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85" autoAdjust="0"/>
    <p:restoredTop sz="94660"/>
  </p:normalViewPr>
  <p:slideViewPr>
    <p:cSldViewPr snapToGrid="0">
      <p:cViewPr varScale="1">
        <p:scale>
          <a:sx n="71" d="100"/>
          <a:sy n="71" d="100"/>
        </p:scale>
        <p:origin x="6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24E536A-8314-4975-AB12-DB5837F9070E}"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3979118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4E536A-8314-4975-AB12-DB5837F9070E}"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806026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24E536A-8314-4975-AB12-DB5837F9070E}"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1780312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4E536A-8314-4975-AB12-DB5837F9070E}"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2475960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4E536A-8314-4975-AB12-DB5837F9070E}" type="datetimeFigureOut">
              <a:rPr lang="en-IN" smtClean="0"/>
              <a:t>13-01-2025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2623813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4E536A-8314-4975-AB12-DB5837F9070E}" type="datetimeFigureOut">
              <a:rPr lang="en-IN" smtClean="0"/>
              <a:t>13-01-2025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1296102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4E536A-8314-4975-AB12-DB5837F9070E}" type="datetimeFigureOut">
              <a:rPr lang="en-IN" smtClean="0"/>
              <a:t>13-01-2025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3167253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24E536A-8314-4975-AB12-DB5837F9070E}"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4049233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24E536A-8314-4975-AB12-DB5837F9070E}"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2586472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24E536A-8314-4975-AB12-DB5837F9070E}"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2139918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24E536A-8314-4975-AB12-DB5837F9070E}"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9303C3C-2358-4DCC-A266-BB1D8E8B1A38}"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71432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24E536A-8314-4975-AB12-DB5837F9070E}"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1530681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24E536A-8314-4975-AB12-DB5837F9070E}"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9303C3C-2358-4DCC-A266-BB1D8E8B1A38}"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89162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24E536A-8314-4975-AB12-DB5837F9070E}"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4182173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4E536A-8314-4975-AB12-DB5837F9070E}"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7566516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4E536A-8314-4975-AB12-DB5837F9070E}"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9303C3C-2358-4DCC-A266-BB1D8E8B1A38}" type="slidenum">
              <a:rPr lang="en-IN" smtClean="0"/>
              <a:t>‹#›</a:t>
            </a:fld>
            <a:endParaRPr lang="en-IN"/>
          </a:p>
        </p:txBody>
      </p:sp>
    </p:spTree>
    <p:extLst>
      <p:ext uri="{BB962C8B-B14F-4D97-AF65-F5344CB8AC3E}">
        <p14:creationId xmlns:p14="http://schemas.microsoft.com/office/powerpoint/2010/main" val="1908592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24E536A-8314-4975-AB12-DB5837F9070E}" type="datetimeFigureOut">
              <a:rPr lang="en-IN" smtClean="0"/>
              <a:t>13-01-2025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9303C3C-2358-4DCC-A266-BB1D8E8B1A38}" type="slidenum">
              <a:rPr lang="en-IN" smtClean="0"/>
              <a:t>‹#›</a:t>
            </a:fld>
            <a:endParaRPr lang="en-IN"/>
          </a:p>
        </p:txBody>
      </p:sp>
    </p:spTree>
    <p:extLst>
      <p:ext uri="{BB962C8B-B14F-4D97-AF65-F5344CB8AC3E}">
        <p14:creationId xmlns:p14="http://schemas.microsoft.com/office/powerpoint/2010/main" val="177343911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0BC03-8EE9-5967-5E8B-58B29BF6E1AF}"/>
              </a:ext>
            </a:extLst>
          </p:cNvPr>
          <p:cNvSpPr>
            <a:spLocks noGrp="1"/>
          </p:cNvSpPr>
          <p:nvPr>
            <p:ph type="ctrTitle"/>
          </p:nvPr>
        </p:nvSpPr>
        <p:spPr>
          <a:xfrm>
            <a:off x="6147372" y="1625693"/>
            <a:ext cx="6044628" cy="1764587"/>
          </a:xfrm>
          <a:solidFill>
            <a:schemeClr val="bg1"/>
          </a:solidFill>
        </p:spPr>
        <p:txBody>
          <a:bodyPr>
            <a:normAutofit/>
          </a:bodyPr>
          <a:lstStyle/>
          <a:p>
            <a:r>
              <a:rPr lang="en-IN" b="1" dirty="0">
                <a:solidFill>
                  <a:srgbClr val="FFC000"/>
                </a:solidFill>
              </a:rPr>
              <a:t>N </a:t>
            </a:r>
            <a:r>
              <a:rPr lang="en-IN" b="1" dirty="0">
                <a:solidFill>
                  <a:schemeClr val="accent6">
                    <a:lumMod val="60000"/>
                    <a:lumOff val="40000"/>
                  </a:schemeClr>
                </a:solidFill>
              </a:rPr>
              <a:t>e </a:t>
            </a:r>
            <a:r>
              <a:rPr lang="en-IN" b="1" dirty="0">
                <a:solidFill>
                  <a:schemeClr val="accent1">
                    <a:lumMod val="40000"/>
                    <a:lumOff val="60000"/>
                  </a:schemeClr>
                </a:solidFill>
              </a:rPr>
              <a:t>x </a:t>
            </a:r>
            <a:r>
              <a:rPr lang="en-IN" b="1" dirty="0">
                <a:solidFill>
                  <a:schemeClr val="accent5">
                    <a:lumMod val="75000"/>
                  </a:schemeClr>
                </a:solidFill>
              </a:rPr>
              <a:t>t</a:t>
            </a:r>
            <a:r>
              <a:rPr lang="en-IN" b="1" dirty="0"/>
              <a:t> </a:t>
            </a:r>
            <a:r>
              <a:rPr lang="en-IN" b="1" dirty="0">
                <a:solidFill>
                  <a:srgbClr val="7030A0"/>
                </a:solidFill>
              </a:rPr>
              <a:t>H </a:t>
            </a:r>
            <a:r>
              <a:rPr lang="en-IN" b="1" dirty="0">
                <a:solidFill>
                  <a:schemeClr val="accent1">
                    <a:lumMod val="60000"/>
                    <a:lumOff val="40000"/>
                  </a:schemeClr>
                </a:solidFill>
              </a:rPr>
              <a:t>I </a:t>
            </a:r>
            <a:r>
              <a:rPr lang="en-IN" b="1" dirty="0">
                <a:solidFill>
                  <a:schemeClr val="accent6">
                    <a:lumMod val="60000"/>
                    <a:lumOff val="40000"/>
                  </a:schemeClr>
                </a:solidFill>
              </a:rPr>
              <a:t>k </a:t>
            </a:r>
            <a:r>
              <a:rPr lang="en-IN" b="1" dirty="0">
                <a:solidFill>
                  <a:schemeClr val="accent1">
                    <a:lumMod val="60000"/>
                    <a:lumOff val="40000"/>
                  </a:schemeClr>
                </a:solidFill>
              </a:rPr>
              <a:t>e s</a:t>
            </a:r>
            <a:br>
              <a:rPr lang="en-IN" b="1" dirty="0">
                <a:solidFill>
                  <a:schemeClr val="accent1">
                    <a:lumMod val="60000"/>
                    <a:lumOff val="40000"/>
                  </a:schemeClr>
                </a:solidFill>
              </a:rPr>
            </a:br>
            <a:r>
              <a:rPr lang="en-IN" sz="2200" b="1" dirty="0"/>
              <a:t>I T S o l u t I o n</a:t>
            </a:r>
          </a:p>
        </p:txBody>
      </p:sp>
      <p:sp>
        <p:nvSpPr>
          <p:cNvPr id="3" name="Subtitle 2">
            <a:extLst>
              <a:ext uri="{FF2B5EF4-FFF2-40B4-BE49-F238E27FC236}">
                <a16:creationId xmlns:a16="http://schemas.microsoft.com/office/drawing/2014/main" id="{BCAEE079-2CA8-5BF8-8035-B75EB9EA57E4}"/>
              </a:ext>
            </a:extLst>
          </p:cNvPr>
          <p:cNvSpPr>
            <a:spLocks noGrp="1"/>
          </p:cNvSpPr>
          <p:nvPr>
            <p:ph type="subTitle" idx="1"/>
          </p:nvPr>
        </p:nvSpPr>
        <p:spPr>
          <a:xfrm>
            <a:off x="1760305" y="4203889"/>
            <a:ext cx="9144000" cy="1202888"/>
          </a:xfrm>
        </p:spPr>
        <p:txBody>
          <a:bodyPr>
            <a:normAutofit/>
          </a:bodyPr>
          <a:lstStyle/>
          <a:p>
            <a:pPr algn="l"/>
            <a:r>
              <a:rPr lang="en-IN" sz="2800" b="1" dirty="0"/>
              <a:t>Title:- </a:t>
            </a:r>
            <a:r>
              <a:rPr lang="en-US" dirty="0"/>
              <a:t>Data Harmonization and Insights Extraction </a:t>
            </a:r>
            <a:endParaRPr lang="en-IN" dirty="0"/>
          </a:p>
          <a:p>
            <a:pPr algn="l"/>
            <a:r>
              <a:rPr lang="en-IN" sz="2800" b="1" dirty="0"/>
              <a:t>Name:- </a:t>
            </a:r>
            <a:r>
              <a:rPr lang="en-IN" dirty="0"/>
              <a:t>Ashish Pachauri</a:t>
            </a:r>
            <a:endParaRPr lang="en-IN" sz="2800" b="1" dirty="0"/>
          </a:p>
        </p:txBody>
      </p:sp>
      <p:sp>
        <p:nvSpPr>
          <p:cNvPr id="6" name="Rectangle 5">
            <a:extLst>
              <a:ext uri="{FF2B5EF4-FFF2-40B4-BE49-F238E27FC236}">
                <a16:creationId xmlns:a16="http://schemas.microsoft.com/office/drawing/2014/main" id="{A3B7D65A-828B-820F-F579-41A308DD574D}"/>
              </a:ext>
            </a:extLst>
          </p:cNvPr>
          <p:cNvSpPr/>
          <p:nvPr/>
        </p:nvSpPr>
        <p:spPr>
          <a:xfrm>
            <a:off x="2797995" y="1224787"/>
            <a:ext cx="6102849" cy="82788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86ADB860-C86F-D4BA-C9BB-A5E4B69C5787}"/>
              </a:ext>
            </a:extLst>
          </p:cNvPr>
          <p:cNvSpPr/>
          <p:nvPr/>
        </p:nvSpPr>
        <p:spPr>
          <a:xfrm>
            <a:off x="3414444" y="1041880"/>
            <a:ext cx="5835722" cy="934138"/>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endParaRPr lang="en-IN" dirty="0"/>
          </a:p>
        </p:txBody>
      </p:sp>
      <p:pic>
        <p:nvPicPr>
          <p:cNvPr id="9" name="Picture 8">
            <a:extLst>
              <a:ext uri="{FF2B5EF4-FFF2-40B4-BE49-F238E27FC236}">
                <a16:creationId xmlns:a16="http://schemas.microsoft.com/office/drawing/2014/main" id="{5C597EBB-0F40-C81E-5BC3-467BD8E6D61E}"/>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229775" y="1277174"/>
            <a:ext cx="4437796" cy="2643771"/>
          </a:xfrm>
          <a:prstGeom prst="rect">
            <a:avLst/>
          </a:prstGeom>
          <a:ln>
            <a:solidFill>
              <a:schemeClr val="bg1"/>
            </a:solidFill>
          </a:ln>
          <a:effectLst>
            <a:softEdge rad="112500"/>
          </a:effectLst>
        </p:spPr>
      </p:pic>
    </p:spTree>
    <p:extLst>
      <p:ext uri="{BB962C8B-B14F-4D97-AF65-F5344CB8AC3E}">
        <p14:creationId xmlns:p14="http://schemas.microsoft.com/office/powerpoint/2010/main" val="1775126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C20AFD-F4CC-4F51-BC21-38D4238E5C99}"/>
              </a:ext>
            </a:extLst>
          </p:cNvPr>
          <p:cNvSpPr/>
          <p:nvPr/>
        </p:nvSpPr>
        <p:spPr>
          <a:xfrm>
            <a:off x="1586753" y="1"/>
            <a:ext cx="10605247" cy="6858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3" name="Rectangle: Rounded Corners 2">
            <a:extLst>
              <a:ext uri="{FF2B5EF4-FFF2-40B4-BE49-F238E27FC236}">
                <a16:creationId xmlns:a16="http://schemas.microsoft.com/office/drawing/2014/main" id="{F3B7ABA1-4A65-4DAB-BCFA-17DB0EBC3A9A}"/>
              </a:ext>
            </a:extLst>
          </p:cNvPr>
          <p:cNvSpPr/>
          <p:nvPr/>
        </p:nvSpPr>
        <p:spPr>
          <a:xfrm>
            <a:off x="3249706" y="80681"/>
            <a:ext cx="7355541" cy="672353"/>
          </a:xfrm>
          <a:prstGeom prst="round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IN" sz="2400" dirty="0">
                <a:latin typeface="Arial Black" panose="020B0A04020102020204" pitchFamily="34" charset="0"/>
              </a:rPr>
              <a:t>Introduction of Data Harmonization</a:t>
            </a:r>
          </a:p>
        </p:txBody>
      </p:sp>
      <p:sp>
        <p:nvSpPr>
          <p:cNvPr id="4" name="Rectangle 3">
            <a:extLst>
              <a:ext uri="{FF2B5EF4-FFF2-40B4-BE49-F238E27FC236}">
                <a16:creationId xmlns:a16="http://schemas.microsoft.com/office/drawing/2014/main" id="{D292AFFD-5C36-4F79-AAF1-946C5564A105}"/>
              </a:ext>
            </a:extLst>
          </p:cNvPr>
          <p:cNvSpPr/>
          <p:nvPr/>
        </p:nvSpPr>
        <p:spPr>
          <a:xfrm>
            <a:off x="1586753" y="618566"/>
            <a:ext cx="10605247" cy="626632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ectangle 4">
            <a:extLst>
              <a:ext uri="{FF2B5EF4-FFF2-40B4-BE49-F238E27FC236}">
                <a16:creationId xmlns:a16="http://schemas.microsoft.com/office/drawing/2014/main" id="{B53D69E3-7F95-48E2-9C82-AF5D81A21E8A}"/>
              </a:ext>
            </a:extLst>
          </p:cNvPr>
          <p:cNvSpPr/>
          <p:nvPr/>
        </p:nvSpPr>
        <p:spPr>
          <a:xfrm>
            <a:off x="2026023" y="860608"/>
            <a:ext cx="8139954" cy="738664"/>
          </a:xfrm>
          <a:prstGeom prst="rect">
            <a:avLst/>
          </a:prstGeom>
        </p:spPr>
        <p:txBody>
          <a:bodyPr wrap="square">
            <a:spAutoFit/>
          </a:bodyPr>
          <a:lstStyle/>
          <a:p>
            <a:r>
              <a:rPr lang="en-US" sz="2400" b="1" dirty="0"/>
              <a:t>Overview</a:t>
            </a:r>
            <a:r>
              <a:rPr lang="en-US" sz="2400" dirty="0"/>
              <a:t>: </a:t>
            </a:r>
            <a:r>
              <a:rPr lang="en-US" dirty="0"/>
              <a:t>Understanding the importance of consistent and visualized data.</a:t>
            </a:r>
            <a:endParaRPr lang="en-IN" dirty="0"/>
          </a:p>
        </p:txBody>
      </p:sp>
      <p:sp>
        <p:nvSpPr>
          <p:cNvPr id="6" name="Rectangle 5">
            <a:extLst>
              <a:ext uri="{FF2B5EF4-FFF2-40B4-BE49-F238E27FC236}">
                <a16:creationId xmlns:a16="http://schemas.microsoft.com/office/drawing/2014/main" id="{A5E76496-4CB8-4F9C-93FC-74221DD1CE26}"/>
              </a:ext>
            </a:extLst>
          </p:cNvPr>
          <p:cNvSpPr/>
          <p:nvPr/>
        </p:nvSpPr>
        <p:spPr>
          <a:xfrm>
            <a:off x="2026023" y="1780914"/>
            <a:ext cx="7306235" cy="2123658"/>
          </a:xfrm>
          <a:prstGeom prst="rect">
            <a:avLst/>
          </a:prstGeom>
        </p:spPr>
        <p:txBody>
          <a:bodyPr wrap="square">
            <a:spAutoFit/>
          </a:bodyPr>
          <a:lstStyle/>
          <a:p>
            <a:r>
              <a:rPr lang="en-US" sz="2400" b="1" dirty="0"/>
              <a:t>Topics Covered</a:t>
            </a:r>
            <a:r>
              <a:rPr lang="en-US" sz="2400" dirty="0"/>
              <a:t>:</a:t>
            </a:r>
          </a:p>
          <a:p>
            <a:endParaRPr lang="en-US" dirty="0"/>
          </a:p>
          <a:p>
            <a:pPr>
              <a:buFont typeface="Arial" panose="020B0604020202020204" pitchFamily="34" charset="0"/>
              <a:buChar char="•"/>
            </a:pPr>
            <a:r>
              <a:rPr lang="en-US" dirty="0"/>
              <a:t>Data Harmonization</a:t>
            </a:r>
          </a:p>
          <a:p>
            <a:pPr>
              <a:buFont typeface="Arial" panose="020B0604020202020204" pitchFamily="34" charset="0"/>
              <a:buChar char="•"/>
            </a:pPr>
            <a:endParaRPr lang="en-US" dirty="0"/>
          </a:p>
          <a:p>
            <a:pPr>
              <a:buFont typeface="Arial" panose="020B0604020202020204" pitchFamily="34" charset="0"/>
              <a:buChar char="•"/>
            </a:pPr>
            <a:r>
              <a:rPr lang="en-US" dirty="0"/>
              <a:t>Data Visualization</a:t>
            </a:r>
          </a:p>
          <a:p>
            <a:pPr>
              <a:buFont typeface="Arial" panose="020B0604020202020204" pitchFamily="34" charset="0"/>
              <a:buChar char="•"/>
            </a:pPr>
            <a:endParaRPr lang="en-US" dirty="0"/>
          </a:p>
          <a:p>
            <a:pPr>
              <a:buFont typeface="Arial" panose="020B0604020202020204" pitchFamily="34" charset="0"/>
              <a:buChar char="•"/>
            </a:pPr>
            <a:r>
              <a:rPr lang="en-US" dirty="0"/>
              <a:t>Practical Insights</a:t>
            </a:r>
          </a:p>
        </p:txBody>
      </p:sp>
      <p:sp>
        <p:nvSpPr>
          <p:cNvPr id="11" name="Rectangle 10">
            <a:extLst>
              <a:ext uri="{FF2B5EF4-FFF2-40B4-BE49-F238E27FC236}">
                <a16:creationId xmlns:a16="http://schemas.microsoft.com/office/drawing/2014/main" id="{5D231A78-8157-4E7D-910B-37415A9E5A81}"/>
              </a:ext>
            </a:extLst>
          </p:cNvPr>
          <p:cNvSpPr/>
          <p:nvPr/>
        </p:nvSpPr>
        <p:spPr>
          <a:xfrm>
            <a:off x="4442727" y="3881270"/>
            <a:ext cx="3306546" cy="523220"/>
          </a:xfrm>
          <a:prstGeom prst="rect">
            <a:avLst/>
          </a:prstGeom>
        </p:spPr>
        <p:txBody>
          <a:bodyPr wrap="none">
            <a:spAutoFit/>
          </a:bodyPr>
          <a:lstStyle/>
          <a:p>
            <a:pPr algn="ctr"/>
            <a:r>
              <a:rPr lang="en-IN" sz="2800" b="1" dirty="0">
                <a:latin typeface="Arial Rounded MT Bold" panose="020F0704030504030204" pitchFamily="34" charset="0"/>
              </a:rPr>
              <a:t>About The Project</a:t>
            </a:r>
          </a:p>
        </p:txBody>
      </p:sp>
      <p:sp>
        <p:nvSpPr>
          <p:cNvPr id="12" name="Arrow: Right 11">
            <a:extLst>
              <a:ext uri="{FF2B5EF4-FFF2-40B4-BE49-F238E27FC236}">
                <a16:creationId xmlns:a16="http://schemas.microsoft.com/office/drawing/2014/main" id="{0032BCCF-1970-4EC1-BC75-B74709A09F12}"/>
              </a:ext>
            </a:extLst>
          </p:cNvPr>
          <p:cNvSpPr/>
          <p:nvPr/>
        </p:nvSpPr>
        <p:spPr>
          <a:xfrm>
            <a:off x="1721224" y="3675307"/>
            <a:ext cx="9480176" cy="3133165"/>
          </a:xfrm>
          <a:prstGeom prst="rightArrow">
            <a:avLst/>
          </a:prstGeom>
          <a:ln>
            <a:solidFill>
              <a:schemeClr val="bg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dirty="0"/>
              <a:t>This presentation explores the data harmonization process for junior data scientists , using a case study based on bike rental data. The goal is to demonstrate how the merge multiple datasets, handling missing values, and extract valuable insights.</a:t>
            </a:r>
            <a:endParaRPr lang="en-IN" dirty="0"/>
          </a:p>
        </p:txBody>
      </p:sp>
    </p:spTree>
    <p:extLst>
      <p:ext uri="{BB962C8B-B14F-4D97-AF65-F5344CB8AC3E}">
        <p14:creationId xmlns:p14="http://schemas.microsoft.com/office/powerpoint/2010/main" val="4233578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710EFC-A4CA-4FBE-A699-F50C37C5EAE9}"/>
              </a:ext>
            </a:extLst>
          </p:cNvPr>
          <p:cNvSpPr/>
          <p:nvPr/>
        </p:nvSpPr>
        <p:spPr>
          <a:xfrm>
            <a:off x="3563832" y="285981"/>
            <a:ext cx="5064335" cy="461665"/>
          </a:xfrm>
          <a:prstGeom prst="rect">
            <a:avLst/>
          </a:prstGeom>
        </p:spPr>
        <p:txBody>
          <a:bodyPr wrap="none">
            <a:spAutoFit/>
          </a:bodyPr>
          <a:lstStyle/>
          <a:p>
            <a:r>
              <a:rPr lang="en-IN" sz="2400" dirty="0">
                <a:latin typeface="Arial Black" panose="020B0A04020102020204" pitchFamily="34" charset="0"/>
              </a:rPr>
              <a:t>What is Data Harmonization?</a:t>
            </a:r>
          </a:p>
        </p:txBody>
      </p:sp>
      <p:sp>
        <p:nvSpPr>
          <p:cNvPr id="3" name="Rectangle 2">
            <a:extLst>
              <a:ext uri="{FF2B5EF4-FFF2-40B4-BE49-F238E27FC236}">
                <a16:creationId xmlns:a16="http://schemas.microsoft.com/office/drawing/2014/main" id="{42A307F0-16DE-4D51-80E3-E83830F559D9}"/>
              </a:ext>
            </a:extLst>
          </p:cNvPr>
          <p:cNvSpPr/>
          <p:nvPr/>
        </p:nvSpPr>
        <p:spPr>
          <a:xfrm>
            <a:off x="1716740" y="1034988"/>
            <a:ext cx="10291483" cy="369332"/>
          </a:xfrm>
          <a:prstGeom prst="rect">
            <a:avLst/>
          </a:prstGeom>
        </p:spPr>
        <p:txBody>
          <a:bodyPr wrap="square">
            <a:spAutoFit/>
          </a:bodyPr>
          <a:lstStyle/>
          <a:p>
            <a:r>
              <a:rPr lang="en-US" b="1" dirty="0"/>
              <a:t>Definition</a:t>
            </a:r>
            <a:r>
              <a:rPr lang="en-US" dirty="0"/>
              <a:t>: The process of ensuring data consistency and compatibility from various sources.</a:t>
            </a:r>
            <a:endParaRPr lang="en-IN" dirty="0"/>
          </a:p>
        </p:txBody>
      </p:sp>
      <p:sp>
        <p:nvSpPr>
          <p:cNvPr id="4" name="Rectangle 3">
            <a:extLst>
              <a:ext uri="{FF2B5EF4-FFF2-40B4-BE49-F238E27FC236}">
                <a16:creationId xmlns:a16="http://schemas.microsoft.com/office/drawing/2014/main" id="{F733041F-B514-43BB-BCD4-F0AF98F06E53}"/>
              </a:ext>
            </a:extLst>
          </p:cNvPr>
          <p:cNvSpPr/>
          <p:nvPr/>
        </p:nvSpPr>
        <p:spPr>
          <a:xfrm>
            <a:off x="1716740" y="1404320"/>
            <a:ext cx="10291482" cy="923330"/>
          </a:xfrm>
          <a:prstGeom prst="rect">
            <a:avLst/>
          </a:prstGeom>
        </p:spPr>
        <p:txBody>
          <a:bodyPr wrap="square">
            <a:spAutoFit/>
          </a:bodyPr>
          <a:lstStyle/>
          <a:p>
            <a:r>
              <a:rPr lang="en-US" dirty="0">
                <a:solidFill>
                  <a:srgbClr val="323436"/>
                </a:solidFill>
                <a:latin typeface="Graphik"/>
              </a:rPr>
              <a:t>Data harmonization is the process of selecting data, synthesizing relevant information that is qualitative and being connected between sources. The outcome is a meaningful data set, which can be analyzed to provide useful insights for business operational purposes.</a:t>
            </a:r>
            <a:endParaRPr lang="en-IN" dirty="0"/>
          </a:p>
        </p:txBody>
      </p:sp>
      <p:sp>
        <p:nvSpPr>
          <p:cNvPr id="5" name="Rectangle 4">
            <a:extLst>
              <a:ext uri="{FF2B5EF4-FFF2-40B4-BE49-F238E27FC236}">
                <a16:creationId xmlns:a16="http://schemas.microsoft.com/office/drawing/2014/main" id="{00471CD3-47CB-49DF-8FC5-D86102B78BDE}"/>
              </a:ext>
            </a:extLst>
          </p:cNvPr>
          <p:cNvSpPr/>
          <p:nvPr/>
        </p:nvSpPr>
        <p:spPr>
          <a:xfrm>
            <a:off x="1716739" y="2967335"/>
            <a:ext cx="10291482" cy="1477328"/>
          </a:xfrm>
          <a:prstGeom prst="rect">
            <a:avLst/>
          </a:prstGeom>
        </p:spPr>
        <p:txBody>
          <a:bodyPr wrap="square">
            <a:spAutoFit/>
          </a:bodyPr>
          <a:lstStyle/>
          <a:p>
            <a:r>
              <a:rPr lang="en-US" b="1" dirty="0"/>
              <a:t>Key Objectives</a:t>
            </a:r>
            <a:r>
              <a:rPr lang="en-US" dirty="0"/>
              <a:t>:</a:t>
            </a:r>
          </a:p>
          <a:p>
            <a:endParaRPr lang="en-US" dirty="0"/>
          </a:p>
          <a:p>
            <a:pPr>
              <a:buFont typeface="Arial" panose="020B0604020202020204" pitchFamily="34" charset="0"/>
              <a:buChar char="•"/>
            </a:pPr>
            <a:r>
              <a:rPr lang="en-US" dirty="0"/>
              <a:t>Improve Data Quality</a:t>
            </a:r>
          </a:p>
          <a:p>
            <a:pPr>
              <a:buFont typeface="Arial" panose="020B0604020202020204" pitchFamily="34" charset="0"/>
              <a:buChar char="•"/>
            </a:pPr>
            <a:endParaRPr lang="en-US" dirty="0"/>
          </a:p>
          <a:p>
            <a:pPr>
              <a:buFont typeface="Arial" panose="020B0604020202020204" pitchFamily="34" charset="0"/>
              <a:buChar char="•"/>
            </a:pPr>
            <a:r>
              <a:rPr lang="en-US" dirty="0"/>
              <a:t>Enable Comprehensive Analysis</a:t>
            </a:r>
          </a:p>
        </p:txBody>
      </p:sp>
      <p:pic>
        <p:nvPicPr>
          <p:cNvPr id="7" name="Graphic 6">
            <a:extLst>
              <a:ext uri="{FF2B5EF4-FFF2-40B4-BE49-F238E27FC236}">
                <a16:creationId xmlns:a16="http://schemas.microsoft.com/office/drawing/2014/main" id="{D9A83745-02CE-4F5C-9A90-63E07D159B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62600" y="2327650"/>
            <a:ext cx="6629400" cy="4530350"/>
          </a:xfrm>
          <a:prstGeom prst="rect">
            <a:avLst/>
          </a:prstGeom>
        </p:spPr>
      </p:pic>
      <p:sp>
        <p:nvSpPr>
          <p:cNvPr id="8" name="Rectangle 1">
            <a:extLst>
              <a:ext uri="{FF2B5EF4-FFF2-40B4-BE49-F238E27FC236}">
                <a16:creationId xmlns:a16="http://schemas.microsoft.com/office/drawing/2014/main" id="{A8FCD8BB-23AB-468C-BFCA-124BFB037C66}"/>
              </a:ext>
            </a:extLst>
          </p:cNvPr>
          <p:cNvSpPr>
            <a:spLocks noChangeArrowheads="1"/>
          </p:cNvSpPr>
          <p:nvPr/>
        </p:nvSpPr>
        <p:spPr bwMode="auto">
          <a:xfrm>
            <a:off x="1716739" y="4710422"/>
            <a:ext cx="437926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var(--font-fk-grotesk)"/>
              </a:rPr>
              <a:t>Phase 1 - Data Acquisition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__fkGroteskNeue_598ab8"/>
              </a:rPr>
              <a:t>Description: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__fkGroteskNeue_598ab8"/>
              </a:rPr>
              <a:t>Loading data into Python using Pandas.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__fkGroteskNeue_598ab8"/>
              </a:rPr>
              <a:t>Example code.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var(--font-berkeley-mono)"/>
              </a:rPr>
              <a:t>python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4D4D4C"/>
                </a:solidFill>
                <a:effectLst/>
                <a:latin typeface="inherit"/>
              </a:rPr>
              <a:t>dataset1 = </a:t>
            </a:r>
            <a:r>
              <a:rPr kumimoji="0" lang="en-US" altLang="en-US" sz="1400" b="0" i="0" u="none" strike="noStrike" cap="none" normalizeH="0" baseline="0" dirty="0" err="1">
                <a:ln>
                  <a:noFill/>
                </a:ln>
                <a:solidFill>
                  <a:srgbClr val="4D4D4C"/>
                </a:solidFill>
                <a:effectLst/>
                <a:latin typeface="inherit"/>
              </a:rPr>
              <a:t>pd.read_excel</a:t>
            </a:r>
            <a:r>
              <a:rPr kumimoji="0" lang="en-US" altLang="en-US" sz="1400" b="0" i="0" u="none" strike="noStrike" cap="none" normalizeH="0" baseline="0" dirty="0">
                <a:ln>
                  <a:noFill/>
                </a:ln>
                <a:solidFill>
                  <a:srgbClr val="4D4D4C"/>
                </a:solidFill>
                <a:effectLst/>
                <a:latin typeface="inherit"/>
              </a:rPr>
              <a:t>(</a:t>
            </a:r>
            <a:r>
              <a:rPr kumimoji="0" lang="en-US" altLang="en-US" sz="1400" b="0" i="0" u="none" strike="noStrike" cap="none" normalizeH="0" baseline="0" dirty="0" err="1">
                <a:ln>
                  <a:noFill/>
                </a:ln>
                <a:solidFill>
                  <a:srgbClr val="718C00"/>
                </a:solidFill>
                <a:effectLst/>
                <a:latin typeface="inherit"/>
              </a:rPr>
              <a:t>r"C</a:t>
            </a:r>
            <a:r>
              <a:rPr kumimoji="0" lang="en-US" altLang="en-US" sz="1400" b="0" i="0" u="none" strike="noStrike" cap="none" normalizeH="0" baseline="0" dirty="0">
                <a:ln>
                  <a:noFill/>
                </a:ln>
                <a:solidFill>
                  <a:srgbClr val="718C00"/>
                </a:solidFill>
                <a:effectLst/>
                <a:latin typeface="inherit"/>
              </a:rPr>
              <a:t>:\\Users\\Dell\\Desktop\\dataset_1.xlsx"</a:t>
            </a:r>
            <a:r>
              <a:rPr kumimoji="0" lang="en-US" altLang="en-US" sz="1400" b="0" i="0" u="none" strike="noStrike" cap="none" normalizeH="0" baseline="0" dirty="0">
                <a:ln>
                  <a:noFill/>
                </a:ln>
                <a:solidFill>
                  <a:srgbClr val="4D4D4C"/>
                </a:solidFill>
                <a:effectLst/>
                <a:latin typeface="inherit"/>
              </a:rPr>
              <a:t>)</a:t>
            </a:r>
            <a:endParaRPr kumimoji="0" lang="en-US" altLang="en-US" sz="1400" b="0" i="0" u="none" strike="noStrike" cap="none" normalizeH="0" baseline="0" dirty="0">
              <a:ln>
                <a:noFill/>
              </a:ln>
              <a:solidFill>
                <a:schemeClr val="tx1"/>
              </a:solidFill>
              <a:effectLst/>
              <a:latin typeface="__fkGroteskNeue_598ab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3669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D8E320-FE51-4E16-BB24-8744B27502AD}"/>
              </a:ext>
            </a:extLst>
          </p:cNvPr>
          <p:cNvSpPr/>
          <p:nvPr/>
        </p:nvSpPr>
        <p:spPr>
          <a:xfrm>
            <a:off x="4692218" y="178405"/>
            <a:ext cx="4519017" cy="523220"/>
          </a:xfrm>
          <a:prstGeom prst="rect">
            <a:avLst/>
          </a:prstGeom>
        </p:spPr>
        <p:txBody>
          <a:bodyPr wrap="square">
            <a:spAutoFit/>
          </a:bodyPr>
          <a:lstStyle/>
          <a:p>
            <a:pPr algn="ctr"/>
            <a:r>
              <a:rPr lang="en-IN" sz="2800" b="1" dirty="0">
                <a:latin typeface="Arial Rounded MT Bold" panose="020F0704030504030204" pitchFamily="34" charset="0"/>
              </a:rPr>
              <a:t>Tools and Technologies</a:t>
            </a:r>
          </a:p>
        </p:txBody>
      </p:sp>
      <p:sp>
        <p:nvSpPr>
          <p:cNvPr id="3" name="Rectangle 2">
            <a:extLst>
              <a:ext uri="{FF2B5EF4-FFF2-40B4-BE49-F238E27FC236}">
                <a16:creationId xmlns:a16="http://schemas.microsoft.com/office/drawing/2014/main" id="{D92F8716-9D74-4B4F-97FA-7DEA620978CE}"/>
              </a:ext>
            </a:extLst>
          </p:cNvPr>
          <p:cNvSpPr/>
          <p:nvPr/>
        </p:nvSpPr>
        <p:spPr>
          <a:xfrm>
            <a:off x="1892508" y="837311"/>
            <a:ext cx="4495141" cy="523220"/>
          </a:xfrm>
          <a:prstGeom prst="rect">
            <a:avLst/>
          </a:prstGeom>
        </p:spPr>
        <p:txBody>
          <a:bodyPr wrap="none">
            <a:spAutoFit/>
          </a:bodyPr>
          <a:lstStyle/>
          <a:p>
            <a:r>
              <a:rPr lang="en-IN" sz="2800" b="1" dirty="0"/>
              <a:t>Tools for data cleaning-: </a:t>
            </a:r>
            <a:endParaRPr lang="en-IN" sz="2800" dirty="0"/>
          </a:p>
        </p:txBody>
      </p:sp>
      <p:sp>
        <p:nvSpPr>
          <p:cNvPr id="5" name="Rectangle 4">
            <a:extLst>
              <a:ext uri="{FF2B5EF4-FFF2-40B4-BE49-F238E27FC236}">
                <a16:creationId xmlns:a16="http://schemas.microsoft.com/office/drawing/2014/main" id="{E0AA44AD-A669-4924-A817-08A899FEB993}"/>
              </a:ext>
            </a:extLst>
          </p:cNvPr>
          <p:cNvSpPr/>
          <p:nvPr/>
        </p:nvSpPr>
        <p:spPr>
          <a:xfrm>
            <a:off x="981635" y="1519516"/>
            <a:ext cx="4397189" cy="73959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Import python library</a:t>
            </a:r>
            <a:endParaRPr lang="en-IN" b="1" dirty="0"/>
          </a:p>
        </p:txBody>
      </p:sp>
      <p:sp>
        <p:nvSpPr>
          <p:cNvPr id="7" name="Rectangle 6">
            <a:extLst>
              <a:ext uri="{FF2B5EF4-FFF2-40B4-BE49-F238E27FC236}">
                <a16:creationId xmlns:a16="http://schemas.microsoft.com/office/drawing/2014/main" id="{102F1FD4-2F7E-4BA4-8104-E43FA8D2CF3F}"/>
              </a:ext>
            </a:extLst>
          </p:cNvPr>
          <p:cNvSpPr/>
          <p:nvPr/>
        </p:nvSpPr>
        <p:spPr>
          <a:xfrm>
            <a:off x="1892508" y="1833144"/>
            <a:ext cx="4495141" cy="1169894"/>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Import pandas library</a:t>
            </a:r>
          </a:p>
          <a:p>
            <a:pPr algn="ctr"/>
            <a:r>
              <a:rPr lang="en-US" dirty="0"/>
              <a:t>Import </a:t>
            </a:r>
            <a:r>
              <a:rPr lang="en-US" dirty="0" err="1"/>
              <a:t>numpy</a:t>
            </a:r>
            <a:r>
              <a:rPr lang="en-US" dirty="0"/>
              <a:t>  library</a:t>
            </a:r>
            <a:endParaRPr lang="en-IN" dirty="0"/>
          </a:p>
        </p:txBody>
      </p:sp>
      <p:sp>
        <p:nvSpPr>
          <p:cNvPr id="8" name="Rectangle 7">
            <a:extLst>
              <a:ext uri="{FF2B5EF4-FFF2-40B4-BE49-F238E27FC236}">
                <a16:creationId xmlns:a16="http://schemas.microsoft.com/office/drawing/2014/main" id="{258EE9BA-BEDD-4C42-9690-F555FBF792EF}"/>
              </a:ext>
            </a:extLst>
          </p:cNvPr>
          <p:cNvSpPr/>
          <p:nvPr/>
        </p:nvSpPr>
        <p:spPr>
          <a:xfrm>
            <a:off x="2066937" y="3106319"/>
            <a:ext cx="4969630" cy="1384995"/>
          </a:xfrm>
          <a:prstGeom prst="rect">
            <a:avLst/>
          </a:prstGeom>
        </p:spPr>
        <p:txBody>
          <a:bodyPr wrap="none">
            <a:spAutoFit/>
          </a:bodyPr>
          <a:lstStyle/>
          <a:p>
            <a:r>
              <a:rPr lang="en-IN" sz="2800" b="1" dirty="0"/>
              <a:t>Tools for data visualization-:</a:t>
            </a:r>
          </a:p>
          <a:p>
            <a:pPr algn="ctr"/>
            <a:endParaRPr lang="en-IN" sz="2800" b="1" dirty="0"/>
          </a:p>
          <a:p>
            <a:r>
              <a:rPr lang="en-IN" sz="2800" b="1" dirty="0"/>
              <a:t> </a:t>
            </a:r>
            <a:endParaRPr lang="en-IN" sz="2800" dirty="0"/>
          </a:p>
        </p:txBody>
      </p:sp>
      <p:sp>
        <p:nvSpPr>
          <p:cNvPr id="9" name="Rectangle 8">
            <a:extLst>
              <a:ext uri="{FF2B5EF4-FFF2-40B4-BE49-F238E27FC236}">
                <a16:creationId xmlns:a16="http://schemas.microsoft.com/office/drawing/2014/main" id="{4BFDA544-9F25-49B3-AD6F-BE06AB044080}"/>
              </a:ext>
            </a:extLst>
          </p:cNvPr>
          <p:cNvSpPr/>
          <p:nvPr/>
        </p:nvSpPr>
        <p:spPr>
          <a:xfrm>
            <a:off x="2451847" y="3475651"/>
            <a:ext cx="3644153" cy="174180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Import </a:t>
            </a:r>
            <a:r>
              <a:rPr lang="en-US" dirty="0" err="1"/>
              <a:t>Metplotlib</a:t>
            </a:r>
            <a:r>
              <a:rPr lang="en-US" dirty="0"/>
              <a:t> for chart	</a:t>
            </a:r>
          </a:p>
          <a:p>
            <a:pPr algn="ctr"/>
            <a:endParaRPr lang="en-US" dirty="0"/>
          </a:p>
          <a:p>
            <a:pPr algn="ctr"/>
            <a:r>
              <a:rPr lang="en-US" dirty="0"/>
              <a:t>Import Seaborn for advance</a:t>
            </a:r>
          </a:p>
          <a:p>
            <a:pPr algn="ctr"/>
            <a:endParaRPr lang="en-US" dirty="0"/>
          </a:p>
          <a:p>
            <a:pPr algn="ctr"/>
            <a:r>
              <a:rPr lang="en-US" dirty="0"/>
              <a:t>Using </a:t>
            </a:r>
            <a:r>
              <a:rPr lang="en-US" dirty="0" err="1"/>
              <a:t>jupyter</a:t>
            </a:r>
            <a:r>
              <a:rPr lang="en-US" dirty="0"/>
              <a:t> notebook		</a:t>
            </a:r>
            <a:endParaRPr lang="en-IN" dirty="0"/>
          </a:p>
        </p:txBody>
      </p:sp>
      <p:pic>
        <p:nvPicPr>
          <p:cNvPr id="13" name="Picture 12">
            <a:extLst>
              <a:ext uri="{FF2B5EF4-FFF2-40B4-BE49-F238E27FC236}">
                <a16:creationId xmlns:a16="http://schemas.microsoft.com/office/drawing/2014/main" id="{9D318ECA-62A9-41BA-9471-DC4B92AB8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1447" y="837311"/>
            <a:ext cx="5177118" cy="5842283"/>
          </a:xfrm>
          <a:prstGeom prst="rect">
            <a:avLst/>
          </a:prstGeom>
        </p:spPr>
      </p:pic>
    </p:spTree>
    <p:extLst>
      <p:ext uri="{BB962C8B-B14F-4D97-AF65-F5344CB8AC3E}">
        <p14:creationId xmlns:p14="http://schemas.microsoft.com/office/powerpoint/2010/main" val="455532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4D2ECA-6206-4816-AF11-625C0E7615DE}"/>
              </a:ext>
            </a:extLst>
          </p:cNvPr>
          <p:cNvSpPr/>
          <p:nvPr/>
        </p:nvSpPr>
        <p:spPr>
          <a:xfrm>
            <a:off x="5637809" y="124616"/>
            <a:ext cx="2390085" cy="461665"/>
          </a:xfrm>
          <a:prstGeom prst="rect">
            <a:avLst/>
          </a:prstGeom>
        </p:spPr>
        <p:txBody>
          <a:bodyPr wrap="square">
            <a:spAutoFit/>
          </a:bodyPr>
          <a:lstStyle/>
          <a:p>
            <a:r>
              <a:rPr lang="en-IN" sz="2400" b="1" dirty="0">
                <a:latin typeface="var(--font-fk-grotesk)"/>
              </a:rPr>
              <a:t>Data Overview</a:t>
            </a:r>
            <a:endParaRPr lang="en-IN" sz="2400" b="1" i="0" dirty="0">
              <a:effectLst/>
              <a:latin typeface="var(--font-fk-grotesk)"/>
            </a:endParaRPr>
          </a:p>
        </p:txBody>
      </p:sp>
      <p:sp>
        <p:nvSpPr>
          <p:cNvPr id="3" name="Rectangle 1">
            <a:extLst>
              <a:ext uri="{FF2B5EF4-FFF2-40B4-BE49-F238E27FC236}">
                <a16:creationId xmlns:a16="http://schemas.microsoft.com/office/drawing/2014/main" id="{003E168A-3F29-4C26-B37B-EC55F8858041}"/>
              </a:ext>
            </a:extLst>
          </p:cNvPr>
          <p:cNvSpPr>
            <a:spLocks noChangeArrowheads="1"/>
          </p:cNvSpPr>
          <p:nvPr/>
        </p:nvSpPr>
        <p:spPr bwMode="auto">
          <a:xfrm>
            <a:off x="1898888" y="703493"/>
            <a:ext cx="4197112" cy="1717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19025" rIns="0" bIns="11902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__fkGroteskNeue_598ab8"/>
              </a:rPr>
              <a:t>Dataset Summary: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__fkGroteskNeue_598ab8"/>
              </a:rPr>
              <a:t>Total Rows: 610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__fkGroteskNeue_598ab8"/>
              </a:rPr>
              <a:t>Key columns include: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var(--font-berkeley-mono)"/>
              </a:rPr>
              <a:t>instant</a:t>
            </a:r>
            <a:r>
              <a:rPr kumimoji="0" lang="en-US" altLang="en-US" sz="1200" b="0" i="0" u="none" strike="noStrike" cap="none" normalizeH="0" baseline="0" dirty="0">
                <a:ln>
                  <a:noFill/>
                </a:ln>
                <a:solidFill>
                  <a:schemeClr val="tx1"/>
                </a:solidFill>
                <a:effectLst/>
                <a:latin typeface="__fkGroteskNeue_598ab8"/>
              </a:rPr>
              <a:t>, </a:t>
            </a:r>
            <a:r>
              <a:rPr kumimoji="0" lang="en-US" altLang="en-US" b="0" i="0" u="none" strike="noStrike" cap="none" normalizeH="0" baseline="0" dirty="0" err="1">
                <a:ln>
                  <a:noFill/>
                </a:ln>
                <a:solidFill>
                  <a:schemeClr val="tx1"/>
                </a:solidFill>
                <a:effectLst/>
                <a:latin typeface="var(--font-berkeley-mono)"/>
              </a:rPr>
              <a:t>dteday</a:t>
            </a:r>
            <a:r>
              <a:rPr kumimoji="0" lang="en-US" altLang="en-US" sz="1200" b="0" i="0" u="none" strike="noStrike" cap="none" normalizeH="0" baseline="0" dirty="0">
                <a:ln>
                  <a:noFill/>
                </a:ln>
                <a:solidFill>
                  <a:schemeClr val="tx1"/>
                </a:solidFill>
                <a:effectLst/>
                <a:latin typeface="__fkGroteskNeue_598ab8"/>
              </a:rPr>
              <a:t>, </a:t>
            </a:r>
            <a:r>
              <a:rPr kumimoji="0" lang="en-US" altLang="en-US" b="0" i="0" u="none" strike="noStrike" cap="none" normalizeH="0" baseline="0" dirty="0">
                <a:ln>
                  <a:noFill/>
                </a:ln>
                <a:solidFill>
                  <a:schemeClr val="tx1"/>
                </a:solidFill>
                <a:effectLst/>
                <a:latin typeface="var(--font-berkeley-mono)"/>
              </a:rPr>
              <a:t>season</a:t>
            </a:r>
            <a:r>
              <a:rPr kumimoji="0" lang="en-US" altLang="en-US" sz="1200" b="0" i="0" u="none" strike="noStrike" cap="none" normalizeH="0" baseline="0" dirty="0">
                <a:ln>
                  <a:noFill/>
                </a:ln>
                <a:solidFill>
                  <a:schemeClr val="tx1"/>
                </a:solidFill>
                <a:effectLst/>
                <a:latin typeface="__fkGroteskNeue_598ab8"/>
              </a:rPr>
              <a:t>, </a:t>
            </a:r>
            <a:r>
              <a:rPr kumimoji="0" lang="en-US" altLang="en-US" b="0" i="0" u="none" strike="noStrike" cap="none" normalizeH="0" baseline="0" dirty="0" err="1">
                <a:ln>
                  <a:noFill/>
                </a:ln>
                <a:solidFill>
                  <a:schemeClr val="tx1"/>
                </a:solidFill>
                <a:effectLst/>
                <a:latin typeface="var(--font-berkeley-mono)"/>
              </a:rPr>
              <a:t>yr</a:t>
            </a:r>
            <a:r>
              <a:rPr kumimoji="0" lang="en-US" altLang="en-US" sz="1200" b="0" i="0" u="none" strike="noStrike" cap="none" normalizeH="0" baseline="0" dirty="0">
                <a:ln>
                  <a:noFill/>
                </a:ln>
                <a:solidFill>
                  <a:schemeClr val="tx1"/>
                </a:solidFill>
                <a:effectLst/>
                <a:latin typeface="__fkGroteskNeue_598ab8"/>
              </a:rPr>
              <a:t>, </a:t>
            </a:r>
            <a:r>
              <a:rPr kumimoji="0" lang="en-US" altLang="en-US" b="0" i="0" u="none" strike="noStrike" cap="none" normalizeH="0" baseline="0" dirty="0" err="1">
                <a:ln>
                  <a:noFill/>
                </a:ln>
                <a:solidFill>
                  <a:schemeClr val="tx1"/>
                </a:solidFill>
                <a:effectLst/>
                <a:latin typeface="var(--font-berkeley-mono)"/>
              </a:rPr>
              <a:t>mnth</a:t>
            </a:r>
            <a:r>
              <a:rPr kumimoji="0" lang="en-US" altLang="en-US" sz="1200" b="0" i="0" u="none" strike="noStrike" cap="none" normalizeH="0" baseline="0" dirty="0">
                <a:ln>
                  <a:noFill/>
                </a:ln>
                <a:solidFill>
                  <a:schemeClr val="tx1"/>
                </a:solidFill>
                <a:effectLst/>
                <a:latin typeface="__fkGroteskNeue_598ab8"/>
              </a:rPr>
              <a:t>, </a:t>
            </a:r>
            <a:r>
              <a:rPr kumimoji="0" lang="en-US" altLang="en-US" b="0" i="0" u="none" strike="noStrike" cap="none" normalizeH="0" baseline="0" dirty="0" err="1">
                <a:ln>
                  <a:noFill/>
                </a:ln>
                <a:solidFill>
                  <a:schemeClr val="tx1"/>
                </a:solidFill>
                <a:effectLst/>
                <a:latin typeface="var(--font-berkeley-mono)"/>
              </a:rPr>
              <a:t>hr</a:t>
            </a:r>
            <a:endParaRPr kumimoji="0" lang="en-US" altLang="en-US" sz="1200" b="0" i="0" u="none" strike="noStrike" cap="none" normalizeH="0" baseline="0" dirty="0">
              <a:ln>
                <a:noFill/>
              </a:ln>
              <a:solidFill>
                <a:schemeClr val="tx1"/>
              </a:solidFill>
              <a:effectLst/>
              <a:latin typeface="__fkGroteskNeue_598ab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A9A67153-A09F-4CB9-9435-1114F4B12700}"/>
              </a:ext>
            </a:extLst>
          </p:cNvPr>
          <p:cNvSpPr/>
          <p:nvPr/>
        </p:nvSpPr>
        <p:spPr>
          <a:xfrm>
            <a:off x="5749636" y="2169075"/>
            <a:ext cx="3449782" cy="461665"/>
          </a:xfrm>
          <a:prstGeom prst="rect">
            <a:avLst/>
          </a:prstGeom>
        </p:spPr>
        <p:txBody>
          <a:bodyPr wrap="square">
            <a:spAutoFit/>
          </a:bodyPr>
          <a:lstStyle/>
          <a:p>
            <a:r>
              <a:rPr lang="en-IN" sz="2400" b="1" dirty="0">
                <a:latin typeface="var(--font-fk-grotesk)"/>
              </a:rPr>
              <a:t>Data Structure</a:t>
            </a:r>
            <a:endParaRPr lang="en-IN" sz="2400" b="1" i="0" dirty="0">
              <a:effectLst/>
              <a:latin typeface="var(--font-fk-grotesk)"/>
            </a:endParaRPr>
          </a:p>
        </p:txBody>
      </p:sp>
      <p:sp>
        <p:nvSpPr>
          <p:cNvPr id="5" name="Rectangle 4">
            <a:extLst>
              <a:ext uri="{FF2B5EF4-FFF2-40B4-BE49-F238E27FC236}">
                <a16:creationId xmlns:a16="http://schemas.microsoft.com/office/drawing/2014/main" id="{35861B95-D27D-4F2E-A4CF-3C8B3132C235}"/>
              </a:ext>
            </a:extLst>
          </p:cNvPr>
          <p:cNvSpPr/>
          <p:nvPr/>
        </p:nvSpPr>
        <p:spPr>
          <a:xfrm>
            <a:off x="2027862" y="2800989"/>
            <a:ext cx="2128502" cy="400110"/>
          </a:xfrm>
          <a:prstGeom prst="rect">
            <a:avLst/>
          </a:prstGeom>
        </p:spPr>
        <p:txBody>
          <a:bodyPr wrap="square">
            <a:spAutoFit/>
          </a:bodyPr>
          <a:lstStyle/>
          <a:p>
            <a:r>
              <a:rPr lang="en-IN" sz="2000" dirty="0">
                <a:latin typeface="__fkGroteskNeue_598ab8"/>
              </a:rPr>
              <a:t>Table Preview:</a:t>
            </a:r>
            <a:endParaRPr lang="en-IN" sz="2000" dirty="0"/>
          </a:p>
        </p:txBody>
      </p:sp>
      <p:graphicFrame>
        <p:nvGraphicFramePr>
          <p:cNvPr id="6" name="Table 5">
            <a:extLst>
              <a:ext uri="{FF2B5EF4-FFF2-40B4-BE49-F238E27FC236}">
                <a16:creationId xmlns:a16="http://schemas.microsoft.com/office/drawing/2014/main" id="{A0B2F811-9A29-486D-9B05-C1A359090EF7}"/>
              </a:ext>
            </a:extLst>
          </p:cNvPr>
          <p:cNvGraphicFramePr>
            <a:graphicFrameLocks noGrp="1"/>
          </p:cNvGraphicFramePr>
          <p:nvPr>
            <p:extLst>
              <p:ext uri="{D42A27DB-BD31-4B8C-83A1-F6EECF244321}">
                <p14:modId xmlns:p14="http://schemas.microsoft.com/office/powerpoint/2010/main" val="200441725"/>
              </p:ext>
            </p:extLst>
          </p:nvPr>
        </p:nvGraphicFramePr>
        <p:xfrm>
          <a:off x="2201284" y="3246697"/>
          <a:ext cx="9990720" cy="1616248"/>
        </p:xfrm>
        <a:graphic>
          <a:graphicData uri="http://schemas.openxmlformats.org/drawingml/2006/table">
            <a:tbl>
              <a:tblPr/>
              <a:tblGrid>
                <a:gridCol w="999072">
                  <a:extLst>
                    <a:ext uri="{9D8B030D-6E8A-4147-A177-3AD203B41FA5}">
                      <a16:colId xmlns:a16="http://schemas.microsoft.com/office/drawing/2014/main" val="1852987959"/>
                    </a:ext>
                  </a:extLst>
                </a:gridCol>
                <a:gridCol w="999072">
                  <a:extLst>
                    <a:ext uri="{9D8B030D-6E8A-4147-A177-3AD203B41FA5}">
                      <a16:colId xmlns:a16="http://schemas.microsoft.com/office/drawing/2014/main" val="715762933"/>
                    </a:ext>
                  </a:extLst>
                </a:gridCol>
                <a:gridCol w="999072">
                  <a:extLst>
                    <a:ext uri="{9D8B030D-6E8A-4147-A177-3AD203B41FA5}">
                      <a16:colId xmlns:a16="http://schemas.microsoft.com/office/drawing/2014/main" val="1023682218"/>
                    </a:ext>
                  </a:extLst>
                </a:gridCol>
                <a:gridCol w="999072">
                  <a:extLst>
                    <a:ext uri="{9D8B030D-6E8A-4147-A177-3AD203B41FA5}">
                      <a16:colId xmlns:a16="http://schemas.microsoft.com/office/drawing/2014/main" val="3457371715"/>
                    </a:ext>
                  </a:extLst>
                </a:gridCol>
                <a:gridCol w="999072">
                  <a:extLst>
                    <a:ext uri="{9D8B030D-6E8A-4147-A177-3AD203B41FA5}">
                      <a16:colId xmlns:a16="http://schemas.microsoft.com/office/drawing/2014/main" val="1297258527"/>
                    </a:ext>
                  </a:extLst>
                </a:gridCol>
                <a:gridCol w="999072">
                  <a:extLst>
                    <a:ext uri="{9D8B030D-6E8A-4147-A177-3AD203B41FA5}">
                      <a16:colId xmlns:a16="http://schemas.microsoft.com/office/drawing/2014/main" val="1550744013"/>
                    </a:ext>
                  </a:extLst>
                </a:gridCol>
                <a:gridCol w="999072">
                  <a:extLst>
                    <a:ext uri="{9D8B030D-6E8A-4147-A177-3AD203B41FA5}">
                      <a16:colId xmlns:a16="http://schemas.microsoft.com/office/drawing/2014/main" val="3156666390"/>
                    </a:ext>
                  </a:extLst>
                </a:gridCol>
                <a:gridCol w="999072">
                  <a:extLst>
                    <a:ext uri="{9D8B030D-6E8A-4147-A177-3AD203B41FA5}">
                      <a16:colId xmlns:a16="http://schemas.microsoft.com/office/drawing/2014/main" val="2254058158"/>
                    </a:ext>
                  </a:extLst>
                </a:gridCol>
                <a:gridCol w="999072">
                  <a:extLst>
                    <a:ext uri="{9D8B030D-6E8A-4147-A177-3AD203B41FA5}">
                      <a16:colId xmlns:a16="http://schemas.microsoft.com/office/drawing/2014/main" val="42202360"/>
                    </a:ext>
                  </a:extLst>
                </a:gridCol>
                <a:gridCol w="999072">
                  <a:extLst>
                    <a:ext uri="{9D8B030D-6E8A-4147-A177-3AD203B41FA5}">
                      <a16:colId xmlns:a16="http://schemas.microsoft.com/office/drawing/2014/main" val="4231672078"/>
                    </a:ext>
                  </a:extLst>
                </a:gridCol>
              </a:tblGrid>
              <a:tr h="808124">
                <a:tc>
                  <a:txBody>
                    <a:bodyPr/>
                    <a:lstStyle/>
                    <a:p>
                      <a:pPr fontAlgn="t" latinLnBrk="0"/>
                      <a:r>
                        <a:rPr lang="en-IN" b="0">
                          <a:effectLst/>
                        </a:rPr>
                        <a:t>instant</a:t>
                      </a: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902588"/>
                      </a:solidFill>
                      <a:prstDash val="solid"/>
                      <a:round/>
                      <a:headEnd type="none" w="med" len="med"/>
                      <a:tailEnd type="none" w="med" len="med"/>
                    </a:lnB>
                  </a:tcPr>
                </a:tc>
                <a:tc>
                  <a:txBody>
                    <a:bodyPr/>
                    <a:lstStyle/>
                    <a:p>
                      <a:pPr fontAlgn="t" latinLnBrk="0"/>
                      <a:r>
                        <a:rPr lang="en-IN" b="0">
                          <a:effectLst/>
                        </a:rPr>
                        <a:t>dteday</a:t>
                      </a: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103188"/>
                      </a:solidFill>
                      <a:prstDash val="solid"/>
                      <a:round/>
                      <a:headEnd type="none" w="med" len="med"/>
                      <a:tailEnd type="none" w="med" len="med"/>
                    </a:lnB>
                  </a:tcPr>
                </a:tc>
                <a:tc>
                  <a:txBody>
                    <a:bodyPr/>
                    <a:lstStyle/>
                    <a:p>
                      <a:pPr fontAlgn="t" latinLnBrk="0"/>
                      <a:r>
                        <a:rPr lang="en-IN" b="0" dirty="0">
                          <a:effectLst/>
                        </a:rPr>
                        <a:t>season</a:t>
                      </a: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902C88"/>
                      </a:solidFill>
                      <a:prstDash val="solid"/>
                      <a:round/>
                      <a:headEnd type="none" w="med" len="med"/>
                      <a:tailEnd type="none" w="med" len="med"/>
                    </a:lnB>
                  </a:tcPr>
                </a:tc>
                <a:tc>
                  <a:txBody>
                    <a:bodyPr/>
                    <a:lstStyle/>
                    <a:p>
                      <a:pPr fontAlgn="t" latinLnBrk="0"/>
                      <a:r>
                        <a:rPr lang="en-IN" b="0">
                          <a:effectLst/>
                        </a:rPr>
                        <a:t>yr</a:t>
                      </a: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103488"/>
                      </a:solidFill>
                      <a:prstDash val="solid"/>
                      <a:round/>
                      <a:headEnd type="none" w="med" len="med"/>
                      <a:tailEnd type="none" w="med" len="med"/>
                    </a:lnB>
                  </a:tcPr>
                </a:tc>
                <a:tc>
                  <a:txBody>
                    <a:bodyPr/>
                    <a:lstStyle/>
                    <a:p>
                      <a:pPr fontAlgn="t" latinLnBrk="0"/>
                      <a:r>
                        <a:rPr lang="en-IN" b="0">
                          <a:effectLst/>
                        </a:rPr>
                        <a:t>mnth</a:t>
                      </a: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102288"/>
                      </a:solidFill>
                      <a:prstDash val="solid"/>
                      <a:round/>
                      <a:headEnd type="none" w="med" len="med"/>
                      <a:tailEnd type="none" w="med" len="med"/>
                    </a:lnB>
                  </a:tcPr>
                </a:tc>
                <a:tc>
                  <a:txBody>
                    <a:bodyPr/>
                    <a:lstStyle/>
                    <a:p>
                      <a:pPr fontAlgn="t" latinLnBrk="0"/>
                      <a:r>
                        <a:rPr lang="en-IN" b="0">
                          <a:effectLst/>
                        </a:rPr>
                        <a:t>hr</a:t>
                      </a: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902088"/>
                      </a:solidFill>
                      <a:prstDash val="solid"/>
                      <a:round/>
                      <a:headEnd type="none" w="med" len="med"/>
                      <a:tailEnd type="none" w="med" len="med"/>
                    </a:lnB>
                  </a:tcPr>
                </a:tc>
                <a:tc>
                  <a:txBody>
                    <a:bodyPr/>
                    <a:lstStyle/>
                    <a:p>
                      <a:pPr fontAlgn="t" latinLnBrk="0"/>
                      <a:r>
                        <a:rPr lang="en-IN" b="0">
                          <a:effectLst/>
                        </a:rPr>
                        <a:t>holiday</a:t>
                      </a: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103188"/>
                      </a:solidFill>
                      <a:prstDash val="solid"/>
                      <a:round/>
                      <a:headEnd type="none" w="med" len="med"/>
                      <a:tailEnd type="none" w="med" len="med"/>
                    </a:lnB>
                  </a:tcPr>
                </a:tc>
                <a:tc>
                  <a:txBody>
                    <a:bodyPr/>
                    <a:lstStyle/>
                    <a:p>
                      <a:pPr fontAlgn="t" latinLnBrk="0"/>
                      <a:r>
                        <a:rPr lang="en-IN" b="0">
                          <a:effectLst/>
                        </a:rPr>
                        <a:t>weekday</a:t>
                      </a: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902188"/>
                      </a:solidFill>
                      <a:prstDash val="solid"/>
                      <a:round/>
                      <a:headEnd type="none" w="med" len="med"/>
                      <a:tailEnd type="none" w="med" len="med"/>
                    </a:lnB>
                  </a:tcPr>
                </a:tc>
                <a:tc>
                  <a:txBody>
                    <a:bodyPr/>
                    <a:lstStyle/>
                    <a:p>
                      <a:pPr fontAlgn="t" latinLnBrk="0"/>
                      <a:r>
                        <a:rPr lang="en-IN" b="0">
                          <a:effectLst/>
                        </a:rPr>
                        <a:t>weathersit</a:t>
                      </a: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902388"/>
                      </a:solidFill>
                      <a:prstDash val="solid"/>
                      <a:round/>
                      <a:headEnd type="none" w="med" len="med"/>
                      <a:tailEnd type="none" w="med" len="med"/>
                    </a:lnB>
                  </a:tcPr>
                </a:tc>
                <a:tc>
                  <a:txBody>
                    <a:bodyPr/>
                    <a:lstStyle/>
                    <a:p>
                      <a:pPr fontAlgn="t" latinLnBrk="0"/>
                      <a:r>
                        <a:rPr lang="en-IN" b="0">
                          <a:effectLst/>
                        </a:rPr>
                        <a:t>temp</a:t>
                      </a:r>
                    </a:p>
                  </a:txBody>
                  <a:tcP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9525" cap="flat" cmpd="sng" algn="ctr">
                      <a:solidFill>
                        <a:srgbClr val="902088"/>
                      </a:solidFill>
                      <a:prstDash val="solid"/>
                      <a:round/>
                      <a:headEnd type="none" w="med" len="med"/>
                      <a:tailEnd type="none" w="med" len="med"/>
                    </a:lnB>
                  </a:tcPr>
                </a:tc>
                <a:extLst>
                  <a:ext uri="{0D108BD9-81ED-4DB2-BD59-A6C34878D82A}">
                    <a16:rowId xmlns:a16="http://schemas.microsoft.com/office/drawing/2014/main" val="1906180973"/>
                  </a:ext>
                </a:extLst>
              </a:tr>
              <a:tr h="808124">
                <a:tc>
                  <a:txBody>
                    <a:bodyPr/>
                    <a:lstStyle/>
                    <a:p>
                      <a:pPr fontAlgn="base" latinLnBrk="0"/>
                      <a:r>
                        <a:rPr lang="en-IN">
                          <a:effectLst/>
                        </a:rPr>
                        <a:t>1</a:t>
                      </a:r>
                    </a:p>
                  </a:txBody>
                  <a:tcPr anchor="ctr">
                    <a:lnL w="9525" cap="flat" cmpd="sng" algn="ctr">
                      <a:solidFill>
                        <a:srgbClr val="902588"/>
                      </a:solidFill>
                      <a:prstDash val="solid"/>
                      <a:round/>
                      <a:headEnd type="none" w="med" len="med"/>
                      <a:tailEnd type="none" w="med" len="med"/>
                    </a:lnL>
                    <a:lnR w="9525" cap="flat" cmpd="sng" algn="ctr">
                      <a:solidFill>
                        <a:srgbClr val="103188"/>
                      </a:solidFill>
                      <a:prstDash val="solid"/>
                      <a:round/>
                      <a:headEnd type="none" w="med" len="med"/>
                      <a:tailEnd type="none" w="med" len="med"/>
                    </a:lnR>
                    <a:lnT w="9525" cap="flat" cmpd="sng" algn="ctr">
                      <a:solidFill>
                        <a:srgbClr val="902588"/>
                      </a:solidFill>
                      <a:prstDash val="solid"/>
                      <a:round/>
                      <a:headEnd type="none" w="med" len="med"/>
                      <a:tailEnd type="none" w="med" len="med"/>
                    </a:lnT>
                    <a:lnB w="9525" cap="flat" cmpd="sng" algn="ctr">
                      <a:solidFill>
                        <a:srgbClr val="902588"/>
                      </a:solidFill>
                      <a:prstDash val="solid"/>
                      <a:round/>
                      <a:headEnd type="none" w="med" len="med"/>
                      <a:tailEnd type="none" w="med" len="med"/>
                    </a:lnB>
                  </a:tcPr>
                </a:tc>
                <a:tc>
                  <a:txBody>
                    <a:bodyPr/>
                    <a:lstStyle/>
                    <a:p>
                      <a:pPr fontAlgn="base" latinLnBrk="0"/>
                      <a:r>
                        <a:rPr lang="en-IN">
                          <a:effectLst/>
                        </a:rPr>
                        <a:t>2011-01-01</a:t>
                      </a:r>
                    </a:p>
                  </a:txBody>
                  <a:tcPr anchor="ctr">
                    <a:lnL w="9525" cap="flat" cmpd="sng" algn="ctr">
                      <a:solidFill>
                        <a:srgbClr val="103188"/>
                      </a:solidFill>
                      <a:prstDash val="solid"/>
                      <a:round/>
                      <a:headEnd type="none" w="med" len="med"/>
                      <a:tailEnd type="none" w="med" len="med"/>
                    </a:lnL>
                    <a:lnR w="9525" cap="flat" cmpd="sng" algn="ctr">
                      <a:solidFill>
                        <a:srgbClr val="902C88"/>
                      </a:solidFill>
                      <a:prstDash val="solid"/>
                      <a:round/>
                      <a:headEnd type="none" w="med" len="med"/>
                      <a:tailEnd type="none" w="med" len="med"/>
                    </a:lnR>
                    <a:lnT w="9525" cap="flat" cmpd="sng" algn="ctr">
                      <a:solidFill>
                        <a:srgbClr val="103188"/>
                      </a:solidFill>
                      <a:prstDash val="solid"/>
                      <a:round/>
                      <a:headEnd type="none" w="med" len="med"/>
                      <a:tailEnd type="none" w="med" len="med"/>
                    </a:lnT>
                    <a:lnB w="9525" cap="flat" cmpd="sng" algn="ctr">
                      <a:solidFill>
                        <a:srgbClr val="103188"/>
                      </a:solidFill>
                      <a:prstDash val="solid"/>
                      <a:round/>
                      <a:headEnd type="none" w="med" len="med"/>
                      <a:tailEnd type="none" w="med" len="med"/>
                    </a:lnB>
                  </a:tcPr>
                </a:tc>
                <a:tc>
                  <a:txBody>
                    <a:bodyPr/>
                    <a:lstStyle/>
                    <a:p>
                      <a:pPr fontAlgn="base" latinLnBrk="0"/>
                      <a:r>
                        <a:rPr lang="en-IN">
                          <a:effectLst/>
                        </a:rPr>
                        <a:t>1</a:t>
                      </a:r>
                    </a:p>
                  </a:txBody>
                  <a:tcPr anchor="ctr">
                    <a:lnL w="9525" cap="flat" cmpd="sng" algn="ctr">
                      <a:solidFill>
                        <a:srgbClr val="902C88"/>
                      </a:solidFill>
                      <a:prstDash val="solid"/>
                      <a:round/>
                      <a:headEnd type="none" w="med" len="med"/>
                      <a:tailEnd type="none" w="med" len="med"/>
                    </a:lnL>
                    <a:lnR w="9525" cap="flat" cmpd="sng" algn="ctr">
                      <a:solidFill>
                        <a:srgbClr val="103488"/>
                      </a:solidFill>
                      <a:prstDash val="solid"/>
                      <a:round/>
                      <a:headEnd type="none" w="med" len="med"/>
                      <a:tailEnd type="none" w="med" len="med"/>
                    </a:lnR>
                    <a:lnT w="9525" cap="flat" cmpd="sng" algn="ctr">
                      <a:solidFill>
                        <a:srgbClr val="902C88"/>
                      </a:solidFill>
                      <a:prstDash val="solid"/>
                      <a:round/>
                      <a:headEnd type="none" w="med" len="med"/>
                      <a:tailEnd type="none" w="med" len="med"/>
                    </a:lnT>
                    <a:lnB w="9525" cap="flat" cmpd="sng" algn="ctr">
                      <a:solidFill>
                        <a:srgbClr val="902C88"/>
                      </a:solidFill>
                      <a:prstDash val="solid"/>
                      <a:round/>
                      <a:headEnd type="none" w="med" len="med"/>
                      <a:tailEnd type="none" w="med" len="med"/>
                    </a:lnB>
                  </a:tcPr>
                </a:tc>
                <a:tc>
                  <a:txBody>
                    <a:bodyPr/>
                    <a:lstStyle/>
                    <a:p>
                      <a:pPr fontAlgn="base" latinLnBrk="0"/>
                      <a:r>
                        <a:rPr lang="en-IN">
                          <a:effectLst/>
                        </a:rPr>
                        <a:t>0</a:t>
                      </a:r>
                    </a:p>
                  </a:txBody>
                  <a:tcPr anchor="ctr">
                    <a:lnL w="9525" cap="flat" cmpd="sng" algn="ctr">
                      <a:solidFill>
                        <a:srgbClr val="103488"/>
                      </a:solidFill>
                      <a:prstDash val="solid"/>
                      <a:round/>
                      <a:headEnd type="none" w="med" len="med"/>
                      <a:tailEnd type="none" w="med" len="med"/>
                    </a:lnL>
                    <a:lnR w="9525" cap="flat" cmpd="sng" algn="ctr">
                      <a:solidFill>
                        <a:srgbClr val="102288"/>
                      </a:solidFill>
                      <a:prstDash val="solid"/>
                      <a:round/>
                      <a:headEnd type="none" w="med" len="med"/>
                      <a:tailEnd type="none" w="med" len="med"/>
                    </a:lnR>
                    <a:lnT w="9525" cap="flat" cmpd="sng" algn="ctr">
                      <a:solidFill>
                        <a:srgbClr val="103488"/>
                      </a:solidFill>
                      <a:prstDash val="solid"/>
                      <a:round/>
                      <a:headEnd type="none" w="med" len="med"/>
                      <a:tailEnd type="none" w="med" len="med"/>
                    </a:lnT>
                    <a:lnB w="9525" cap="flat" cmpd="sng" algn="ctr">
                      <a:solidFill>
                        <a:srgbClr val="103488"/>
                      </a:solidFill>
                      <a:prstDash val="solid"/>
                      <a:round/>
                      <a:headEnd type="none" w="med" len="med"/>
                      <a:tailEnd type="none" w="med" len="med"/>
                    </a:lnB>
                  </a:tcPr>
                </a:tc>
                <a:tc>
                  <a:txBody>
                    <a:bodyPr/>
                    <a:lstStyle/>
                    <a:p>
                      <a:pPr fontAlgn="base" latinLnBrk="0"/>
                      <a:r>
                        <a:rPr lang="en-IN">
                          <a:effectLst/>
                        </a:rPr>
                        <a:t>1</a:t>
                      </a:r>
                    </a:p>
                  </a:txBody>
                  <a:tcPr anchor="ctr">
                    <a:lnL w="9525" cap="flat" cmpd="sng" algn="ctr">
                      <a:solidFill>
                        <a:srgbClr val="102288"/>
                      </a:solidFill>
                      <a:prstDash val="solid"/>
                      <a:round/>
                      <a:headEnd type="none" w="med" len="med"/>
                      <a:tailEnd type="none" w="med" len="med"/>
                    </a:lnL>
                    <a:lnR w="9525" cap="flat" cmpd="sng" algn="ctr">
                      <a:solidFill>
                        <a:srgbClr val="902088"/>
                      </a:solidFill>
                      <a:prstDash val="solid"/>
                      <a:round/>
                      <a:headEnd type="none" w="med" len="med"/>
                      <a:tailEnd type="none" w="med" len="med"/>
                    </a:lnR>
                    <a:lnT w="9525" cap="flat" cmpd="sng" algn="ctr">
                      <a:solidFill>
                        <a:srgbClr val="102288"/>
                      </a:solidFill>
                      <a:prstDash val="solid"/>
                      <a:round/>
                      <a:headEnd type="none" w="med" len="med"/>
                      <a:tailEnd type="none" w="med" len="med"/>
                    </a:lnT>
                    <a:lnB w="9525" cap="flat" cmpd="sng" algn="ctr">
                      <a:solidFill>
                        <a:srgbClr val="102288"/>
                      </a:solidFill>
                      <a:prstDash val="solid"/>
                      <a:round/>
                      <a:headEnd type="none" w="med" len="med"/>
                      <a:tailEnd type="none" w="med" len="med"/>
                    </a:lnB>
                  </a:tcPr>
                </a:tc>
                <a:tc>
                  <a:txBody>
                    <a:bodyPr/>
                    <a:lstStyle/>
                    <a:p>
                      <a:pPr fontAlgn="base" latinLnBrk="0"/>
                      <a:r>
                        <a:rPr lang="en-IN">
                          <a:effectLst/>
                        </a:rPr>
                        <a:t>0</a:t>
                      </a:r>
                    </a:p>
                  </a:txBody>
                  <a:tcPr anchor="ctr">
                    <a:lnL w="9525" cap="flat" cmpd="sng" algn="ctr">
                      <a:solidFill>
                        <a:srgbClr val="902088"/>
                      </a:solidFill>
                      <a:prstDash val="solid"/>
                      <a:round/>
                      <a:headEnd type="none" w="med" len="med"/>
                      <a:tailEnd type="none" w="med" len="med"/>
                    </a:lnL>
                    <a:lnR w="9525" cap="flat" cmpd="sng" algn="ctr">
                      <a:solidFill>
                        <a:srgbClr val="103188"/>
                      </a:solidFill>
                      <a:prstDash val="solid"/>
                      <a:round/>
                      <a:headEnd type="none" w="med" len="med"/>
                      <a:tailEnd type="none" w="med" len="med"/>
                    </a:lnR>
                    <a:lnT w="9525" cap="flat" cmpd="sng" algn="ctr">
                      <a:solidFill>
                        <a:srgbClr val="902088"/>
                      </a:solidFill>
                      <a:prstDash val="solid"/>
                      <a:round/>
                      <a:headEnd type="none" w="med" len="med"/>
                      <a:tailEnd type="none" w="med" len="med"/>
                    </a:lnT>
                    <a:lnB w="9525" cap="flat" cmpd="sng" algn="ctr">
                      <a:solidFill>
                        <a:srgbClr val="902088"/>
                      </a:solidFill>
                      <a:prstDash val="solid"/>
                      <a:round/>
                      <a:headEnd type="none" w="med" len="med"/>
                      <a:tailEnd type="none" w="med" len="med"/>
                    </a:lnB>
                  </a:tcPr>
                </a:tc>
                <a:tc>
                  <a:txBody>
                    <a:bodyPr/>
                    <a:lstStyle/>
                    <a:p>
                      <a:pPr fontAlgn="base" latinLnBrk="0"/>
                      <a:r>
                        <a:rPr lang="en-IN">
                          <a:effectLst/>
                        </a:rPr>
                        <a:t>False</a:t>
                      </a:r>
                    </a:p>
                  </a:txBody>
                  <a:tcPr anchor="ctr">
                    <a:lnL w="9525" cap="flat" cmpd="sng" algn="ctr">
                      <a:solidFill>
                        <a:srgbClr val="103188"/>
                      </a:solidFill>
                      <a:prstDash val="solid"/>
                      <a:round/>
                      <a:headEnd type="none" w="med" len="med"/>
                      <a:tailEnd type="none" w="med" len="med"/>
                    </a:lnL>
                    <a:lnR w="9525" cap="flat" cmpd="sng" algn="ctr">
                      <a:solidFill>
                        <a:srgbClr val="902188"/>
                      </a:solidFill>
                      <a:prstDash val="solid"/>
                      <a:round/>
                      <a:headEnd type="none" w="med" len="med"/>
                      <a:tailEnd type="none" w="med" len="med"/>
                    </a:lnR>
                    <a:lnT w="9525" cap="flat" cmpd="sng" algn="ctr">
                      <a:solidFill>
                        <a:srgbClr val="103188"/>
                      </a:solidFill>
                      <a:prstDash val="solid"/>
                      <a:round/>
                      <a:headEnd type="none" w="med" len="med"/>
                      <a:tailEnd type="none" w="med" len="med"/>
                    </a:lnT>
                    <a:lnB w="9525" cap="flat" cmpd="sng" algn="ctr">
                      <a:solidFill>
                        <a:srgbClr val="103188"/>
                      </a:solidFill>
                      <a:prstDash val="solid"/>
                      <a:round/>
                      <a:headEnd type="none" w="med" len="med"/>
                      <a:tailEnd type="none" w="med" len="med"/>
                    </a:lnB>
                  </a:tcPr>
                </a:tc>
                <a:tc>
                  <a:txBody>
                    <a:bodyPr/>
                    <a:lstStyle/>
                    <a:p>
                      <a:pPr fontAlgn="base" latinLnBrk="0"/>
                      <a:r>
                        <a:rPr lang="en-IN">
                          <a:effectLst/>
                        </a:rPr>
                        <a:t>6</a:t>
                      </a:r>
                    </a:p>
                  </a:txBody>
                  <a:tcPr anchor="ctr">
                    <a:lnL w="9525" cap="flat" cmpd="sng" algn="ctr">
                      <a:solidFill>
                        <a:srgbClr val="902188"/>
                      </a:solidFill>
                      <a:prstDash val="solid"/>
                      <a:round/>
                      <a:headEnd type="none" w="med" len="med"/>
                      <a:tailEnd type="none" w="med" len="med"/>
                    </a:lnL>
                    <a:lnR w="9525" cap="flat" cmpd="sng" algn="ctr">
                      <a:solidFill>
                        <a:srgbClr val="902388"/>
                      </a:solidFill>
                      <a:prstDash val="solid"/>
                      <a:round/>
                      <a:headEnd type="none" w="med" len="med"/>
                      <a:tailEnd type="none" w="med" len="med"/>
                    </a:lnR>
                    <a:lnT w="9525" cap="flat" cmpd="sng" algn="ctr">
                      <a:solidFill>
                        <a:srgbClr val="902188"/>
                      </a:solidFill>
                      <a:prstDash val="solid"/>
                      <a:round/>
                      <a:headEnd type="none" w="med" len="med"/>
                      <a:tailEnd type="none" w="med" len="med"/>
                    </a:lnT>
                    <a:lnB w="9525" cap="flat" cmpd="sng" algn="ctr">
                      <a:solidFill>
                        <a:srgbClr val="902188"/>
                      </a:solidFill>
                      <a:prstDash val="solid"/>
                      <a:round/>
                      <a:headEnd type="none" w="med" len="med"/>
                      <a:tailEnd type="none" w="med" len="med"/>
                    </a:lnB>
                  </a:tcPr>
                </a:tc>
                <a:tc>
                  <a:txBody>
                    <a:bodyPr/>
                    <a:lstStyle/>
                    <a:p>
                      <a:pPr fontAlgn="base" latinLnBrk="0"/>
                      <a:r>
                        <a:rPr lang="en-IN">
                          <a:effectLst/>
                        </a:rPr>
                        <a:t>1</a:t>
                      </a:r>
                    </a:p>
                  </a:txBody>
                  <a:tcPr anchor="ctr">
                    <a:lnL w="9525" cap="flat" cmpd="sng" algn="ctr">
                      <a:solidFill>
                        <a:srgbClr val="902388"/>
                      </a:solidFill>
                      <a:prstDash val="solid"/>
                      <a:round/>
                      <a:headEnd type="none" w="med" len="med"/>
                      <a:tailEnd type="none" w="med" len="med"/>
                    </a:lnL>
                    <a:lnR w="9525" cap="flat" cmpd="sng" algn="ctr">
                      <a:solidFill>
                        <a:srgbClr val="902088"/>
                      </a:solidFill>
                      <a:prstDash val="solid"/>
                      <a:round/>
                      <a:headEnd type="none" w="med" len="med"/>
                      <a:tailEnd type="none" w="med" len="med"/>
                    </a:lnR>
                    <a:lnT w="9525" cap="flat" cmpd="sng" algn="ctr">
                      <a:solidFill>
                        <a:srgbClr val="902388"/>
                      </a:solidFill>
                      <a:prstDash val="solid"/>
                      <a:round/>
                      <a:headEnd type="none" w="med" len="med"/>
                      <a:tailEnd type="none" w="med" len="med"/>
                    </a:lnT>
                    <a:lnB w="9525" cap="flat" cmpd="sng" algn="ctr">
                      <a:solidFill>
                        <a:srgbClr val="902388"/>
                      </a:solidFill>
                      <a:prstDash val="solid"/>
                      <a:round/>
                      <a:headEnd type="none" w="med" len="med"/>
                      <a:tailEnd type="none" w="med" len="med"/>
                    </a:lnB>
                  </a:tcPr>
                </a:tc>
                <a:tc>
                  <a:txBody>
                    <a:bodyPr/>
                    <a:lstStyle/>
                    <a:p>
                      <a:pPr fontAlgn="base" latinLnBrk="0"/>
                      <a:r>
                        <a:rPr lang="en-IN" dirty="0">
                          <a:effectLst/>
                        </a:rPr>
                        <a:t>0.24</a:t>
                      </a:r>
                    </a:p>
                  </a:txBody>
                  <a:tcPr anchor="ctr">
                    <a:lnL w="9525" cap="flat" cmpd="sng" algn="ctr">
                      <a:solidFill>
                        <a:srgbClr val="902088"/>
                      </a:solidFill>
                      <a:prstDash val="solid"/>
                      <a:round/>
                      <a:headEnd type="none" w="med" len="med"/>
                      <a:tailEnd type="none" w="med" len="med"/>
                    </a:lnL>
                    <a:lnR w="9525" cap="flat" cmpd="sng" algn="ctr">
                      <a:solidFill>
                        <a:srgbClr val="902088"/>
                      </a:solidFill>
                      <a:prstDash val="solid"/>
                      <a:round/>
                      <a:headEnd type="none" w="med" len="med"/>
                      <a:tailEnd type="none" w="med" len="med"/>
                    </a:lnR>
                    <a:lnT w="9525" cap="flat" cmpd="sng" algn="ctr">
                      <a:solidFill>
                        <a:srgbClr val="902088"/>
                      </a:solidFill>
                      <a:prstDash val="solid"/>
                      <a:round/>
                      <a:headEnd type="none" w="med" len="med"/>
                      <a:tailEnd type="none" w="med" len="med"/>
                    </a:lnT>
                    <a:lnB w="9525" cap="flat" cmpd="sng" algn="ctr">
                      <a:solidFill>
                        <a:srgbClr val="902088"/>
                      </a:solidFill>
                      <a:prstDash val="solid"/>
                      <a:round/>
                      <a:headEnd type="none" w="med" len="med"/>
                      <a:tailEnd type="none" w="med" len="med"/>
                    </a:lnB>
                  </a:tcPr>
                </a:tc>
                <a:extLst>
                  <a:ext uri="{0D108BD9-81ED-4DB2-BD59-A6C34878D82A}">
                    <a16:rowId xmlns:a16="http://schemas.microsoft.com/office/drawing/2014/main" val="640430314"/>
                  </a:ext>
                </a:extLst>
              </a:tr>
            </a:tbl>
          </a:graphicData>
        </a:graphic>
      </p:graphicFrame>
      <p:sp>
        <p:nvSpPr>
          <p:cNvPr id="7" name="Rectangle 6">
            <a:extLst>
              <a:ext uri="{FF2B5EF4-FFF2-40B4-BE49-F238E27FC236}">
                <a16:creationId xmlns:a16="http://schemas.microsoft.com/office/drawing/2014/main" id="{99FB1A88-A775-42CC-AEAB-F8A278D9AB59}"/>
              </a:ext>
            </a:extLst>
          </p:cNvPr>
          <p:cNvSpPr/>
          <p:nvPr/>
        </p:nvSpPr>
        <p:spPr>
          <a:xfrm>
            <a:off x="2201283" y="5109570"/>
            <a:ext cx="1747261" cy="461665"/>
          </a:xfrm>
          <a:prstGeom prst="rect">
            <a:avLst/>
          </a:prstGeom>
        </p:spPr>
        <p:txBody>
          <a:bodyPr wrap="square">
            <a:spAutoFit/>
          </a:bodyPr>
          <a:lstStyle/>
          <a:p>
            <a:r>
              <a:rPr lang="en-US" sz="2400" b="1" dirty="0">
                <a:latin typeface="var(--font-fk-grotesk)"/>
              </a:rPr>
              <a:t>Data types-:</a:t>
            </a:r>
            <a:endParaRPr lang="en-IN" sz="2400" b="1" dirty="0">
              <a:latin typeface="var(--font-fk-grotesk)"/>
            </a:endParaRPr>
          </a:p>
        </p:txBody>
      </p:sp>
      <p:sp>
        <p:nvSpPr>
          <p:cNvPr id="8" name="Rectangle 7">
            <a:extLst>
              <a:ext uri="{FF2B5EF4-FFF2-40B4-BE49-F238E27FC236}">
                <a16:creationId xmlns:a16="http://schemas.microsoft.com/office/drawing/2014/main" id="{2A54F1BF-1431-4103-A1E2-542359AEB7DB}"/>
              </a:ext>
            </a:extLst>
          </p:cNvPr>
          <p:cNvSpPr/>
          <p:nvPr/>
        </p:nvSpPr>
        <p:spPr>
          <a:xfrm>
            <a:off x="4599708" y="5109570"/>
            <a:ext cx="3990110" cy="144363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1.Integers</a:t>
            </a:r>
          </a:p>
          <a:p>
            <a:pPr algn="ctr"/>
            <a:r>
              <a:rPr lang="en-US" dirty="0"/>
              <a:t>2. Float	</a:t>
            </a:r>
          </a:p>
          <a:p>
            <a:pPr algn="ctr"/>
            <a:r>
              <a:rPr lang="en-US" dirty="0"/>
              <a:t>	3.Datetimes</a:t>
            </a:r>
          </a:p>
          <a:p>
            <a:pPr algn="ctr"/>
            <a:r>
              <a:rPr lang="en-US" dirty="0"/>
              <a:t>		4.categorical	</a:t>
            </a:r>
            <a:endParaRPr lang="en-IN" dirty="0"/>
          </a:p>
        </p:txBody>
      </p:sp>
    </p:spTree>
    <p:extLst>
      <p:ext uri="{BB962C8B-B14F-4D97-AF65-F5344CB8AC3E}">
        <p14:creationId xmlns:p14="http://schemas.microsoft.com/office/powerpoint/2010/main" val="58468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DBD4C4-1DF4-4185-89A5-333E553DCE27}"/>
              </a:ext>
            </a:extLst>
          </p:cNvPr>
          <p:cNvSpPr/>
          <p:nvPr/>
        </p:nvSpPr>
        <p:spPr>
          <a:xfrm>
            <a:off x="5150018" y="124616"/>
            <a:ext cx="3415758" cy="523220"/>
          </a:xfrm>
          <a:prstGeom prst="rect">
            <a:avLst/>
          </a:prstGeom>
        </p:spPr>
        <p:txBody>
          <a:bodyPr wrap="square">
            <a:spAutoFit/>
          </a:bodyPr>
          <a:lstStyle/>
          <a:p>
            <a:r>
              <a:rPr lang="en-IN" sz="2800" b="1" dirty="0">
                <a:latin typeface="var(--font-fk-grotesk)"/>
              </a:rPr>
              <a:t>Descriptive Statistics</a:t>
            </a:r>
            <a:endParaRPr lang="en-IN" sz="2800" b="1" i="0" dirty="0">
              <a:effectLst/>
              <a:latin typeface="var(--font-fk-grotesk)"/>
            </a:endParaRPr>
          </a:p>
        </p:txBody>
      </p:sp>
      <p:sp>
        <p:nvSpPr>
          <p:cNvPr id="5" name="Rectangle 4">
            <a:extLst>
              <a:ext uri="{FF2B5EF4-FFF2-40B4-BE49-F238E27FC236}">
                <a16:creationId xmlns:a16="http://schemas.microsoft.com/office/drawing/2014/main" id="{4522310D-9EF9-4256-B24D-DCE15BBB60E6}"/>
              </a:ext>
            </a:extLst>
          </p:cNvPr>
          <p:cNvSpPr/>
          <p:nvPr/>
        </p:nvSpPr>
        <p:spPr>
          <a:xfrm>
            <a:off x="2102018" y="959695"/>
            <a:ext cx="6096000" cy="1477328"/>
          </a:xfrm>
          <a:prstGeom prst="rect">
            <a:avLst/>
          </a:prstGeom>
        </p:spPr>
        <p:txBody>
          <a:bodyPr>
            <a:spAutoFit/>
          </a:bodyPr>
          <a:lstStyle/>
          <a:p>
            <a:pPr>
              <a:buFont typeface="Arial" panose="020B0604020202020204" pitchFamily="34" charset="0"/>
              <a:buChar char="•"/>
            </a:pPr>
            <a:r>
              <a:rPr lang="en-US" b="1" dirty="0">
                <a:latin typeface="__fkGroteskNeue_598ab8"/>
              </a:rPr>
              <a:t>Statistical Summary:</a:t>
            </a:r>
          </a:p>
          <a:p>
            <a:pPr>
              <a:buFont typeface="Arial" panose="020B0604020202020204" pitchFamily="34" charset="0"/>
              <a:buChar char="•"/>
            </a:pPr>
            <a:endParaRPr lang="en-US" dirty="0">
              <a:latin typeface="__fkGroteskNeue_598ab8"/>
            </a:endParaRPr>
          </a:p>
          <a:p>
            <a:pPr>
              <a:buFont typeface="Arial" panose="020B0604020202020204" pitchFamily="34" charset="0"/>
              <a:buChar char="•"/>
            </a:pPr>
            <a:r>
              <a:rPr lang="en-US" dirty="0">
                <a:latin typeface="__fkGroteskNeue_598ab8"/>
              </a:rPr>
              <a:t>Mean, standard deviation, min/max values for key variables.</a:t>
            </a:r>
          </a:p>
          <a:p>
            <a:br>
              <a:rPr lang="en-US" dirty="0"/>
            </a:br>
            <a:endParaRPr lang="en-IN" dirty="0"/>
          </a:p>
        </p:txBody>
      </p:sp>
      <p:sp>
        <p:nvSpPr>
          <p:cNvPr id="6" name="Rectangle 5">
            <a:extLst>
              <a:ext uri="{FF2B5EF4-FFF2-40B4-BE49-F238E27FC236}">
                <a16:creationId xmlns:a16="http://schemas.microsoft.com/office/drawing/2014/main" id="{B6FDACDC-6569-4EC8-A566-BAB47874B3EB}"/>
              </a:ext>
            </a:extLst>
          </p:cNvPr>
          <p:cNvSpPr/>
          <p:nvPr/>
        </p:nvSpPr>
        <p:spPr>
          <a:xfrm>
            <a:off x="2102017" y="2067691"/>
            <a:ext cx="3653323" cy="1477328"/>
          </a:xfrm>
          <a:prstGeom prst="rect">
            <a:avLst/>
          </a:prstGeom>
        </p:spPr>
        <p:txBody>
          <a:bodyPr wrap="square">
            <a:spAutoFit/>
          </a:bodyPr>
          <a:lstStyle/>
          <a:p>
            <a:r>
              <a:rPr lang="en-US" b="1" dirty="0">
                <a:latin typeface="var(--font-fk-grotesk)"/>
              </a:rPr>
              <a:t>U</a:t>
            </a:r>
            <a:r>
              <a:rPr lang="en-IN" b="1" dirty="0">
                <a:latin typeface="var(--font-fk-grotesk)"/>
              </a:rPr>
              <a:t>se method for statistical:</a:t>
            </a:r>
          </a:p>
          <a:p>
            <a:endParaRPr lang="en-US" b="1" dirty="0">
              <a:latin typeface="var(--font-fk-grotesk)"/>
            </a:endParaRPr>
          </a:p>
          <a:p>
            <a:pPr marL="342900" indent="-342900">
              <a:buAutoNum type="arabicPeriod"/>
            </a:pPr>
            <a:r>
              <a:rPr lang="en-IN" b="1" dirty="0">
                <a:latin typeface="var(--font-fk-grotesk)"/>
              </a:rPr>
              <a:t>Z-score method</a:t>
            </a:r>
          </a:p>
          <a:p>
            <a:pPr marL="342900" indent="-342900">
              <a:buAutoNum type="arabicPeriod"/>
            </a:pPr>
            <a:r>
              <a:rPr lang="en-US" b="1" dirty="0">
                <a:latin typeface="var(--font-fk-grotesk)"/>
              </a:rPr>
              <a:t>I</a:t>
            </a:r>
            <a:r>
              <a:rPr lang="en-IN" b="1" dirty="0">
                <a:latin typeface="var(--font-fk-grotesk)"/>
              </a:rPr>
              <a:t>QR(</a:t>
            </a:r>
            <a:r>
              <a:rPr lang="en-IN" dirty="0"/>
              <a:t>interquartile range)method</a:t>
            </a:r>
            <a:endParaRPr lang="en-IN" b="1" dirty="0">
              <a:latin typeface="var(--font-fk-grotesk)"/>
            </a:endParaRPr>
          </a:p>
        </p:txBody>
      </p:sp>
      <p:pic>
        <p:nvPicPr>
          <p:cNvPr id="8" name="Picture 7">
            <a:extLst>
              <a:ext uri="{FF2B5EF4-FFF2-40B4-BE49-F238E27FC236}">
                <a16:creationId xmlns:a16="http://schemas.microsoft.com/office/drawing/2014/main" id="{EB6C1723-7E5E-4B99-86A3-E35E5B81A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2366" y="2437023"/>
            <a:ext cx="7839634" cy="3226543"/>
          </a:xfrm>
          <a:prstGeom prst="rect">
            <a:avLst/>
          </a:prstGeom>
        </p:spPr>
      </p:pic>
      <p:sp>
        <p:nvSpPr>
          <p:cNvPr id="9" name="Rectangle 8">
            <a:extLst>
              <a:ext uri="{FF2B5EF4-FFF2-40B4-BE49-F238E27FC236}">
                <a16:creationId xmlns:a16="http://schemas.microsoft.com/office/drawing/2014/main" id="{B3A17CC0-0321-4939-9FE8-1AF4D8BD818B}"/>
              </a:ext>
            </a:extLst>
          </p:cNvPr>
          <p:cNvSpPr/>
          <p:nvPr/>
        </p:nvSpPr>
        <p:spPr>
          <a:xfrm>
            <a:off x="4997290" y="2067691"/>
            <a:ext cx="5774338" cy="369332"/>
          </a:xfrm>
          <a:prstGeom prst="rect">
            <a:avLst/>
          </a:prstGeom>
        </p:spPr>
        <p:txBody>
          <a:bodyPr wrap="none">
            <a:spAutoFit/>
          </a:bodyPr>
          <a:lstStyle/>
          <a:p>
            <a:r>
              <a:rPr lang="en-IN" dirty="0"/>
              <a:t>We detected outliers using both of these methods</a:t>
            </a:r>
          </a:p>
        </p:txBody>
      </p:sp>
    </p:spTree>
    <p:extLst>
      <p:ext uri="{BB962C8B-B14F-4D97-AF65-F5344CB8AC3E}">
        <p14:creationId xmlns:p14="http://schemas.microsoft.com/office/powerpoint/2010/main" val="4166253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680219-FE11-40EF-BE9E-2CE970F9C149}"/>
              </a:ext>
            </a:extLst>
          </p:cNvPr>
          <p:cNvSpPr/>
          <p:nvPr/>
        </p:nvSpPr>
        <p:spPr>
          <a:xfrm>
            <a:off x="4443945" y="138064"/>
            <a:ext cx="4341253" cy="461665"/>
          </a:xfrm>
          <a:prstGeom prst="rect">
            <a:avLst/>
          </a:prstGeom>
        </p:spPr>
        <p:txBody>
          <a:bodyPr wrap="none">
            <a:spAutoFit/>
          </a:bodyPr>
          <a:lstStyle/>
          <a:p>
            <a:r>
              <a:rPr lang="en-IN" sz="2400" b="1" dirty="0"/>
              <a:t>Data Visualization Overview</a:t>
            </a:r>
          </a:p>
        </p:txBody>
      </p:sp>
      <p:sp>
        <p:nvSpPr>
          <p:cNvPr id="3" name="Rectangle 2">
            <a:extLst>
              <a:ext uri="{FF2B5EF4-FFF2-40B4-BE49-F238E27FC236}">
                <a16:creationId xmlns:a16="http://schemas.microsoft.com/office/drawing/2014/main" id="{3F6BD38A-42E6-40CD-B7B8-DB53EE797686}"/>
              </a:ext>
            </a:extLst>
          </p:cNvPr>
          <p:cNvSpPr/>
          <p:nvPr/>
        </p:nvSpPr>
        <p:spPr>
          <a:xfrm>
            <a:off x="1920789" y="823864"/>
            <a:ext cx="3886000" cy="369332"/>
          </a:xfrm>
          <a:prstGeom prst="rect">
            <a:avLst/>
          </a:prstGeom>
        </p:spPr>
        <p:txBody>
          <a:bodyPr wrap="none">
            <a:spAutoFit/>
          </a:bodyPr>
          <a:lstStyle/>
          <a:p>
            <a:r>
              <a:rPr lang="en-IN" b="1" dirty="0"/>
              <a:t>Importance of Data Visualization</a:t>
            </a:r>
            <a:r>
              <a:rPr lang="en-IN" dirty="0"/>
              <a:t>:</a:t>
            </a:r>
          </a:p>
        </p:txBody>
      </p:sp>
      <p:sp>
        <p:nvSpPr>
          <p:cNvPr id="4" name="Rectangle 1">
            <a:extLst>
              <a:ext uri="{FF2B5EF4-FFF2-40B4-BE49-F238E27FC236}">
                <a16:creationId xmlns:a16="http://schemas.microsoft.com/office/drawing/2014/main" id="{D92AE230-714E-4E5E-9BAB-C1BD043FEB83}"/>
              </a:ext>
            </a:extLst>
          </p:cNvPr>
          <p:cNvSpPr>
            <a:spLocks noChangeArrowheads="1"/>
          </p:cNvSpPr>
          <p:nvPr/>
        </p:nvSpPr>
        <p:spPr bwMode="auto">
          <a:xfrm>
            <a:off x="1920789" y="1373859"/>
            <a:ext cx="922682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Converts complex data into visual formats for easier comprehension.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Facilitates better data interpretation and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Enhances the ability to spot trends, patterns, and outliers.</a:t>
            </a:r>
          </a:p>
        </p:txBody>
      </p:sp>
      <p:sp>
        <p:nvSpPr>
          <p:cNvPr id="5" name="Rectangle 4">
            <a:extLst>
              <a:ext uri="{FF2B5EF4-FFF2-40B4-BE49-F238E27FC236}">
                <a16:creationId xmlns:a16="http://schemas.microsoft.com/office/drawing/2014/main" id="{810658A8-9334-4207-94C6-04A2E19034BF}"/>
              </a:ext>
            </a:extLst>
          </p:cNvPr>
          <p:cNvSpPr/>
          <p:nvPr/>
        </p:nvSpPr>
        <p:spPr>
          <a:xfrm>
            <a:off x="1920789" y="2477852"/>
            <a:ext cx="3973524" cy="369332"/>
          </a:xfrm>
          <a:prstGeom prst="rect">
            <a:avLst/>
          </a:prstGeom>
        </p:spPr>
        <p:txBody>
          <a:bodyPr wrap="none">
            <a:spAutoFit/>
          </a:bodyPr>
          <a:lstStyle/>
          <a:p>
            <a:r>
              <a:rPr lang="en-US" dirty="0">
                <a:latin typeface="__fkGroteskNeue_598ab8"/>
              </a:rPr>
              <a:t>Use Matplotlib and Seaborn for plotting.</a:t>
            </a:r>
            <a:endParaRPr lang="en-IN" dirty="0"/>
          </a:p>
        </p:txBody>
      </p:sp>
      <p:sp>
        <p:nvSpPr>
          <p:cNvPr id="6" name="Rectangle 5">
            <a:extLst>
              <a:ext uri="{FF2B5EF4-FFF2-40B4-BE49-F238E27FC236}">
                <a16:creationId xmlns:a16="http://schemas.microsoft.com/office/drawing/2014/main" id="{7718EEDE-5434-4615-B931-E0607F2B3AFF}"/>
              </a:ext>
            </a:extLst>
          </p:cNvPr>
          <p:cNvSpPr/>
          <p:nvPr/>
        </p:nvSpPr>
        <p:spPr>
          <a:xfrm>
            <a:off x="2066365" y="2847184"/>
            <a:ext cx="6096000" cy="646331"/>
          </a:xfrm>
          <a:prstGeom prst="rect">
            <a:avLst/>
          </a:prstGeom>
        </p:spPr>
        <p:txBody>
          <a:bodyPr>
            <a:spAutoFit/>
          </a:bodyPr>
          <a:lstStyle/>
          <a:p>
            <a:r>
              <a:rPr lang="en-IN" dirty="0"/>
              <a:t>import </a:t>
            </a:r>
            <a:r>
              <a:rPr lang="en-IN" dirty="0" err="1"/>
              <a:t>matplotlib.pyplot</a:t>
            </a:r>
            <a:r>
              <a:rPr lang="en-IN" dirty="0"/>
              <a:t> as </a:t>
            </a:r>
            <a:r>
              <a:rPr lang="en-IN" dirty="0" err="1"/>
              <a:t>plt</a:t>
            </a:r>
            <a:endParaRPr lang="en-IN" dirty="0"/>
          </a:p>
          <a:p>
            <a:r>
              <a:rPr lang="en-IN" dirty="0"/>
              <a:t>import seaborn as </a:t>
            </a:r>
            <a:r>
              <a:rPr lang="en-IN" dirty="0" err="1"/>
              <a:t>snb</a:t>
            </a:r>
            <a:endParaRPr lang="en-IN" dirty="0"/>
          </a:p>
        </p:txBody>
      </p:sp>
      <p:sp>
        <p:nvSpPr>
          <p:cNvPr id="7" name="Rectangle 6">
            <a:extLst>
              <a:ext uri="{FF2B5EF4-FFF2-40B4-BE49-F238E27FC236}">
                <a16:creationId xmlns:a16="http://schemas.microsoft.com/office/drawing/2014/main" id="{C0616E16-6DE2-45E1-8F67-EA7E58F90C2F}"/>
              </a:ext>
            </a:extLst>
          </p:cNvPr>
          <p:cNvSpPr/>
          <p:nvPr/>
        </p:nvSpPr>
        <p:spPr>
          <a:xfrm>
            <a:off x="1920789" y="3767897"/>
            <a:ext cx="2964273" cy="369332"/>
          </a:xfrm>
          <a:prstGeom prst="rect">
            <a:avLst/>
          </a:prstGeom>
        </p:spPr>
        <p:txBody>
          <a:bodyPr wrap="none">
            <a:spAutoFit/>
          </a:bodyPr>
          <a:lstStyle/>
          <a:p>
            <a:r>
              <a:rPr lang="en-IN" b="1" dirty="0"/>
              <a:t>Visualization Techniques:</a:t>
            </a:r>
          </a:p>
        </p:txBody>
      </p:sp>
      <p:sp>
        <p:nvSpPr>
          <p:cNvPr id="8" name="Rectangle 2">
            <a:extLst>
              <a:ext uri="{FF2B5EF4-FFF2-40B4-BE49-F238E27FC236}">
                <a16:creationId xmlns:a16="http://schemas.microsoft.com/office/drawing/2014/main" id="{D62E3DBB-006D-4731-9562-171551F0D1E1}"/>
              </a:ext>
            </a:extLst>
          </p:cNvPr>
          <p:cNvSpPr>
            <a:spLocks noChangeArrowheads="1"/>
          </p:cNvSpPr>
          <p:nvPr/>
        </p:nvSpPr>
        <p:spPr bwMode="auto">
          <a:xfrm>
            <a:off x="2000401" y="4137229"/>
            <a:ext cx="791008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Charts and Graphs</a:t>
            </a:r>
            <a:r>
              <a:rPr kumimoji="0" lang="en-US" altLang="en-US" sz="1800" b="0" i="0" u="none" strike="noStrike" cap="none" normalizeH="0" baseline="0" dirty="0">
                <a:ln>
                  <a:noFill/>
                </a:ln>
                <a:solidFill>
                  <a:schemeClr val="tx1"/>
                </a:solidFill>
                <a:effectLst/>
                <a:latin typeface="Arial" panose="020B0604020202020204" pitchFamily="34" charset="0"/>
              </a:rPr>
              <a:t>: Bar charts, line charts, pie charts.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Dashboards</a:t>
            </a:r>
            <a:r>
              <a:rPr kumimoji="0" lang="en-US" altLang="en-US" sz="1800" b="0" i="0" u="none" strike="noStrike" cap="none" normalizeH="0" baseline="0" dirty="0">
                <a:ln>
                  <a:noFill/>
                </a:ln>
                <a:solidFill>
                  <a:schemeClr val="tx1"/>
                </a:solidFill>
                <a:effectLst/>
                <a:latin typeface="Arial" panose="020B0604020202020204" pitchFamily="34" charset="0"/>
              </a:rPr>
              <a:t>: Interactive platforms combining multiple visualizations.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Interactive Visualizations</a:t>
            </a:r>
            <a:r>
              <a:rPr kumimoji="0" lang="en-US" altLang="en-US" sz="1800" b="0" i="0" u="none" strike="noStrike" cap="none" normalizeH="0" baseline="0" dirty="0">
                <a:ln>
                  <a:noFill/>
                </a:ln>
                <a:solidFill>
                  <a:schemeClr val="tx1"/>
                </a:solidFill>
                <a:effectLst/>
                <a:latin typeface="Arial" panose="020B0604020202020204" pitchFamily="34" charset="0"/>
              </a:rPr>
              <a:t>: Allowing users to explore data dynamically.</a:t>
            </a:r>
          </a:p>
        </p:txBody>
      </p:sp>
      <p:pic>
        <p:nvPicPr>
          <p:cNvPr id="10" name="Picture 9">
            <a:extLst>
              <a:ext uri="{FF2B5EF4-FFF2-40B4-BE49-F238E27FC236}">
                <a16:creationId xmlns:a16="http://schemas.microsoft.com/office/drawing/2014/main" id="{92F49CA1-CA79-44A2-B1E3-A3E5AECCE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401" y="5194157"/>
            <a:ext cx="10021269" cy="1474711"/>
          </a:xfrm>
          <a:prstGeom prst="rect">
            <a:avLst/>
          </a:prstGeom>
        </p:spPr>
      </p:pic>
    </p:spTree>
    <p:extLst>
      <p:ext uri="{BB962C8B-B14F-4D97-AF65-F5344CB8AC3E}">
        <p14:creationId xmlns:p14="http://schemas.microsoft.com/office/powerpoint/2010/main" val="1782121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DAED7D-3F7E-4D1F-A89A-122E28A7922D}"/>
              </a:ext>
            </a:extLst>
          </p:cNvPr>
          <p:cNvSpPr/>
          <p:nvPr/>
        </p:nvSpPr>
        <p:spPr>
          <a:xfrm>
            <a:off x="5081670" y="124616"/>
            <a:ext cx="3320140" cy="523220"/>
          </a:xfrm>
          <a:prstGeom prst="rect">
            <a:avLst/>
          </a:prstGeom>
        </p:spPr>
        <p:txBody>
          <a:bodyPr wrap="none">
            <a:spAutoFit/>
          </a:bodyPr>
          <a:lstStyle/>
          <a:p>
            <a:r>
              <a:rPr lang="en-IN" sz="2800" b="1" dirty="0"/>
              <a:t>Outliers detection</a:t>
            </a:r>
            <a:r>
              <a:rPr lang="en-IN" dirty="0"/>
              <a:t> </a:t>
            </a:r>
          </a:p>
        </p:txBody>
      </p:sp>
      <p:sp>
        <p:nvSpPr>
          <p:cNvPr id="3" name="Rectangle 2">
            <a:extLst>
              <a:ext uri="{FF2B5EF4-FFF2-40B4-BE49-F238E27FC236}">
                <a16:creationId xmlns:a16="http://schemas.microsoft.com/office/drawing/2014/main" id="{AF3B22E7-8624-426C-9C0B-273AE3EB1ABC}"/>
              </a:ext>
            </a:extLst>
          </p:cNvPr>
          <p:cNvSpPr/>
          <p:nvPr/>
        </p:nvSpPr>
        <p:spPr>
          <a:xfrm>
            <a:off x="2033670" y="647836"/>
            <a:ext cx="6096000" cy="646331"/>
          </a:xfrm>
          <a:prstGeom prst="rect">
            <a:avLst/>
          </a:prstGeom>
        </p:spPr>
        <p:txBody>
          <a:bodyPr>
            <a:spAutoFit/>
          </a:bodyPr>
          <a:lstStyle/>
          <a:p>
            <a:r>
              <a:rPr lang="en-US" dirty="0">
                <a:solidFill>
                  <a:srgbClr val="001D35"/>
                </a:solidFill>
                <a:latin typeface="Google Sans"/>
              </a:rPr>
              <a:t>To detect outliers using a graph, the most common methods are to </a:t>
            </a:r>
            <a:r>
              <a:rPr lang="en-US" dirty="0">
                <a:latin typeface="Google Sans"/>
              </a:rPr>
              <a:t>use box plots and </a:t>
            </a:r>
            <a:r>
              <a:rPr lang="en-US" dirty="0" err="1">
                <a:latin typeface="Google Sans"/>
              </a:rPr>
              <a:t>distplot</a:t>
            </a:r>
            <a:r>
              <a:rPr lang="en-US" dirty="0">
                <a:latin typeface="Google Sans"/>
              </a:rPr>
              <a:t> plots</a:t>
            </a:r>
            <a:r>
              <a:rPr lang="en-US" dirty="0">
                <a:solidFill>
                  <a:srgbClr val="001D35"/>
                </a:solidFill>
                <a:latin typeface="Google Sans"/>
              </a:rPr>
              <a:t>.</a:t>
            </a:r>
            <a:endParaRPr lang="en-IN" dirty="0">
              <a:latin typeface="Google Sans"/>
            </a:endParaRPr>
          </a:p>
        </p:txBody>
      </p:sp>
      <p:sp>
        <p:nvSpPr>
          <p:cNvPr id="4" name="Rectangle 3">
            <a:extLst>
              <a:ext uri="{FF2B5EF4-FFF2-40B4-BE49-F238E27FC236}">
                <a16:creationId xmlns:a16="http://schemas.microsoft.com/office/drawing/2014/main" id="{7FFF66A6-A64E-4805-BF1D-895C067BB6F6}"/>
              </a:ext>
            </a:extLst>
          </p:cNvPr>
          <p:cNvSpPr/>
          <p:nvPr/>
        </p:nvSpPr>
        <p:spPr>
          <a:xfrm>
            <a:off x="2033670" y="1294167"/>
            <a:ext cx="1324658" cy="461665"/>
          </a:xfrm>
          <a:prstGeom prst="rect">
            <a:avLst/>
          </a:prstGeom>
        </p:spPr>
        <p:txBody>
          <a:bodyPr wrap="none">
            <a:spAutoFit/>
          </a:bodyPr>
          <a:lstStyle/>
          <a:p>
            <a:r>
              <a:rPr lang="en-IN" sz="2400" b="1" dirty="0">
                <a:solidFill>
                  <a:srgbClr val="001D35"/>
                </a:solidFill>
                <a:latin typeface="Google Sans"/>
              </a:rPr>
              <a:t>Box plot:</a:t>
            </a:r>
            <a:endParaRPr lang="en-IN" sz="2400" dirty="0"/>
          </a:p>
        </p:txBody>
      </p:sp>
      <p:sp>
        <p:nvSpPr>
          <p:cNvPr id="5" name="Rectangle 4">
            <a:extLst>
              <a:ext uri="{FF2B5EF4-FFF2-40B4-BE49-F238E27FC236}">
                <a16:creationId xmlns:a16="http://schemas.microsoft.com/office/drawing/2014/main" id="{E370ABBE-9E5E-46FC-902C-FFE3927365A1}"/>
              </a:ext>
            </a:extLst>
          </p:cNvPr>
          <p:cNvSpPr/>
          <p:nvPr/>
        </p:nvSpPr>
        <p:spPr>
          <a:xfrm>
            <a:off x="2305809" y="1817387"/>
            <a:ext cx="9648625" cy="1200329"/>
          </a:xfrm>
          <a:prstGeom prst="rect">
            <a:avLst/>
          </a:prstGeom>
        </p:spPr>
        <p:txBody>
          <a:bodyPr wrap="square">
            <a:spAutoFit/>
          </a:bodyPr>
          <a:lstStyle/>
          <a:p>
            <a:r>
              <a:rPr lang="en-US" b="1" dirty="0">
                <a:solidFill>
                  <a:srgbClr val="545D7E"/>
                </a:solidFill>
                <a:latin typeface="Google Sans"/>
              </a:rPr>
              <a:t>How it works:</a:t>
            </a:r>
            <a:r>
              <a:rPr lang="en-US" dirty="0">
                <a:solidFill>
                  <a:srgbClr val="545D7E"/>
                </a:solidFill>
                <a:latin typeface="Google Sans"/>
              </a:rPr>
              <a:t> A box plot displays the data distribution by showing the minimum, first quartile (Q1), median, third quartile (Q3), and maximum values. Points that fall outside the "whiskers" (typically calculated as 1.5 times the interquartile range (IQR) beyond Q1 and Q3) are considered outliers and are often marked with individual dots. </a:t>
            </a:r>
            <a:endParaRPr lang="en-US" b="0" i="0" dirty="0">
              <a:solidFill>
                <a:srgbClr val="545D7E"/>
              </a:solidFill>
              <a:effectLst/>
              <a:latin typeface="Google Sans"/>
            </a:endParaRPr>
          </a:p>
        </p:txBody>
      </p:sp>
      <p:pic>
        <p:nvPicPr>
          <p:cNvPr id="7" name="Picture 6">
            <a:extLst>
              <a:ext uri="{FF2B5EF4-FFF2-40B4-BE49-F238E27FC236}">
                <a16:creationId xmlns:a16="http://schemas.microsoft.com/office/drawing/2014/main" id="{68BF9CF7-1316-4587-9056-E4B32C263A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8787" y="3017716"/>
            <a:ext cx="6185647" cy="1366789"/>
          </a:xfrm>
          <a:prstGeom prst="rect">
            <a:avLst/>
          </a:prstGeom>
        </p:spPr>
      </p:pic>
      <p:sp>
        <p:nvSpPr>
          <p:cNvPr id="8" name="Rectangle 7">
            <a:extLst>
              <a:ext uri="{FF2B5EF4-FFF2-40B4-BE49-F238E27FC236}">
                <a16:creationId xmlns:a16="http://schemas.microsoft.com/office/drawing/2014/main" id="{6710CBDE-38B8-4FED-88F5-62629D86AF74}"/>
              </a:ext>
            </a:extLst>
          </p:cNvPr>
          <p:cNvSpPr/>
          <p:nvPr/>
        </p:nvSpPr>
        <p:spPr>
          <a:xfrm>
            <a:off x="2305809" y="4187267"/>
            <a:ext cx="1401089" cy="461665"/>
          </a:xfrm>
          <a:prstGeom prst="rect">
            <a:avLst/>
          </a:prstGeom>
        </p:spPr>
        <p:txBody>
          <a:bodyPr wrap="none">
            <a:spAutoFit/>
          </a:bodyPr>
          <a:lstStyle/>
          <a:p>
            <a:r>
              <a:rPr lang="en-IN" dirty="0">
                <a:solidFill>
                  <a:srgbClr val="1F1F1F"/>
                </a:solidFill>
                <a:latin typeface="Google Sans"/>
              </a:rPr>
              <a:t> </a:t>
            </a:r>
            <a:r>
              <a:rPr lang="en-IN" sz="2400" b="1" dirty="0" err="1">
                <a:solidFill>
                  <a:srgbClr val="1F1F1F"/>
                </a:solidFill>
                <a:latin typeface="Google Sans"/>
              </a:rPr>
              <a:t>Dist</a:t>
            </a:r>
            <a:r>
              <a:rPr lang="en-IN" sz="2400" b="1" dirty="0">
                <a:solidFill>
                  <a:srgbClr val="1F1F1F"/>
                </a:solidFill>
                <a:latin typeface="Google Sans"/>
              </a:rPr>
              <a:t> plot:</a:t>
            </a:r>
            <a:endParaRPr lang="en-IN" sz="2400" b="1" dirty="0"/>
          </a:p>
        </p:txBody>
      </p:sp>
      <p:sp>
        <p:nvSpPr>
          <p:cNvPr id="9" name="Rectangle 8">
            <a:extLst>
              <a:ext uri="{FF2B5EF4-FFF2-40B4-BE49-F238E27FC236}">
                <a16:creationId xmlns:a16="http://schemas.microsoft.com/office/drawing/2014/main" id="{763B3580-CA7B-4E4B-A168-1E373C779451}"/>
              </a:ext>
            </a:extLst>
          </p:cNvPr>
          <p:cNvSpPr/>
          <p:nvPr/>
        </p:nvSpPr>
        <p:spPr>
          <a:xfrm>
            <a:off x="2720787" y="4746376"/>
            <a:ext cx="6096000" cy="707886"/>
          </a:xfrm>
          <a:prstGeom prst="rect">
            <a:avLst/>
          </a:prstGeom>
        </p:spPr>
        <p:txBody>
          <a:bodyPr>
            <a:spAutoFit/>
          </a:bodyPr>
          <a:lstStyle/>
          <a:p>
            <a:r>
              <a:rPr lang="en-IN" sz="2000" dirty="0">
                <a:latin typeface="Google Sans"/>
              </a:rPr>
              <a:t>Through </a:t>
            </a:r>
            <a:r>
              <a:rPr lang="en-IN" sz="2000" dirty="0" err="1">
                <a:latin typeface="Google Sans"/>
              </a:rPr>
              <a:t>Distplot</a:t>
            </a:r>
            <a:r>
              <a:rPr lang="en-IN" sz="2000" dirty="0">
                <a:latin typeface="Google Sans"/>
              </a:rPr>
              <a:t> we can find out the skewness of the data which I have done inside the data.</a:t>
            </a:r>
          </a:p>
        </p:txBody>
      </p:sp>
      <p:pic>
        <p:nvPicPr>
          <p:cNvPr id="11" name="Picture 10">
            <a:extLst>
              <a:ext uri="{FF2B5EF4-FFF2-40B4-BE49-F238E27FC236}">
                <a16:creationId xmlns:a16="http://schemas.microsoft.com/office/drawing/2014/main" id="{11C2A19F-124B-4488-A224-01833BCF88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41699" y="4444576"/>
            <a:ext cx="3312735" cy="2330648"/>
          </a:xfrm>
          <a:prstGeom prst="rect">
            <a:avLst/>
          </a:prstGeom>
        </p:spPr>
      </p:pic>
    </p:spTree>
    <p:extLst>
      <p:ext uri="{BB962C8B-B14F-4D97-AF65-F5344CB8AC3E}">
        <p14:creationId xmlns:p14="http://schemas.microsoft.com/office/powerpoint/2010/main" val="2428147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3CB71C-F1EE-4F25-A40A-D9EC76E3B6C3}"/>
              </a:ext>
            </a:extLst>
          </p:cNvPr>
          <p:cNvSpPr/>
          <p:nvPr/>
        </p:nvSpPr>
        <p:spPr>
          <a:xfrm>
            <a:off x="5097627" y="191852"/>
            <a:ext cx="3608039" cy="461665"/>
          </a:xfrm>
          <a:prstGeom prst="rect">
            <a:avLst/>
          </a:prstGeom>
        </p:spPr>
        <p:txBody>
          <a:bodyPr wrap="none">
            <a:spAutoFit/>
          </a:bodyPr>
          <a:lstStyle/>
          <a:p>
            <a:r>
              <a:rPr lang="en-IN" dirty="0">
                <a:latin typeface="var(--font-fk-grotesk)"/>
              </a:rPr>
              <a:t> </a:t>
            </a:r>
            <a:r>
              <a:rPr lang="en-IN" sz="2400" b="1" dirty="0">
                <a:latin typeface="var(--font-fk-grotesk)"/>
              </a:rPr>
              <a:t>Insights from Visualization</a:t>
            </a:r>
            <a:endParaRPr lang="en-IN" sz="2400" b="1" i="0" dirty="0">
              <a:effectLst/>
              <a:latin typeface="var(--font-fk-grotesk)"/>
            </a:endParaRPr>
          </a:p>
        </p:txBody>
      </p:sp>
      <p:sp>
        <p:nvSpPr>
          <p:cNvPr id="3" name="Rectangle 2">
            <a:extLst>
              <a:ext uri="{FF2B5EF4-FFF2-40B4-BE49-F238E27FC236}">
                <a16:creationId xmlns:a16="http://schemas.microsoft.com/office/drawing/2014/main" id="{5CC4D176-19AA-49E4-9D5D-BD81CB98AAE9}"/>
              </a:ext>
            </a:extLst>
          </p:cNvPr>
          <p:cNvSpPr/>
          <p:nvPr/>
        </p:nvSpPr>
        <p:spPr>
          <a:xfrm>
            <a:off x="2486182" y="653517"/>
            <a:ext cx="2202013" cy="400110"/>
          </a:xfrm>
          <a:prstGeom prst="rect">
            <a:avLst/>
          </a:prstGeom>
        </p:spPr>
        <p:txBody>
          <a:bodyPr wrap="none">
            <a:spAutoFit/>
          </a:bodyPr>
          <a:lstStyle/>
          <a:p>
            <a:r>
              <a:rPr lang="en-IN" sz="2000" b="1" dirty="0">
                <a:latin typeface="__fkGroteskNeue_598ab8"/>
              </a:rPr>
              <a:t>Graphs and Charts</a:t>
            </a:r>
            <a:r>
              <a:rPr lang="en-IN" dirty="0">
                <a:latin typeface="__fkGroteskNeue_598ab8"/>
              </a:rPr>
              <a:t>:</a:t>
            </a:r>
            <a:endParaRPr lang="en-IN" dirty="0"/>
          </a:p>
        </p:txBody>
      </p:sp>
      <p:sp>
        <p:nvSpPr>
          <p:cNvPr id="4" name="Rectangle 3">
            <a:extLst>
              <a:ext uri="{FF2B5EF4-FFF2-40B4-BE49-F238E27FC236}">
                <a16:creationId xmlns:a16="http://schemas.microsoft.com/office/drawing/2014/main" id="{B7B36900-B2EC-41ED-9A89-80793E547C73}"/>
              </a:ext>
            </a:extLst>
          </p:cNvPr>
          <p:cNvSpPr/>
          <p:nvPr/>
        </p:nvSpPr>
        <p:spPr>
          <a:xfrm>
            <a:off x="2486182" y="1160040"/>
            <a:ext cx="1284326" cy="461665"/>
          </a:xfrm>
          <a:prstGeom prst="rect">
            <a:avLst/>
          </a:prstGeom>
        </p:spPr>
        <p:txBody>
          <a:bodyPr wrap="none">
            <a:spAutoFit/>
          </a:bodyPr>
          <a:lstStyle/>
          <a:p>
            <a:r>
              <a:rPr lang="en-IN" sz="2400" b="1" dirty="0" err="1">
                <a:latin typeface="system-ui"/>
              </a:rPr>
              <a:t>BarPlot</a:t>
            </a:r>
            <a:r>
              <a:rPr lang="en-IN" sz="2400" b="1" dirty="0">
                <a:latin typeface="system-ui"/>
              </a:rPr>
              <a:t> :</a:t>
            </a:r>
            <a:endParaRPr lang="en-IN" sz="2400" b="1" i="0" dirty="0">
              <a:effectLst/>
              <a:latin typeface="system-ui"/>
            </a:endParaRPr>
          </a:p>
        </p:txBody>
      </p:sp>
      <p:sp>
        <p:nvSpPr>
          <p:cNvPr id="5" name="Rectangle 4">
            <a:extLst>
              <a:ext uri="{FF2B5EF4-FFF2-40B4-BE49-F238E27FC236}">
                <a16:creationId xmlns:a16="http://schemas.microsoft.com/office/drawing/2014/main" id="{12B2019B-1090-4D27-99DA-03059331B5E5}"/>
              </a:ext>
            </a:extLst>
          </p:cNvPr>
          <p:cNvSpPr/>
          <p:nvPr/>
        </p:nvSpPr>
        <p:spPr>
          <a:xfrm>
            <a:off x="2607206" y="1621705"/>
            <a:ext cx="6321642" cy="820271"/>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Google Sans"/>
              </a:rPr>
              <a:t>Here we have used bar plot on 'Holiday' and 'Registered' columns</a:t>
            </a:r>
            <a:r>
              <a:rPr lang="en-US" dirty="0"/>
              <a:t>.</a:t>
            </a:r>
            <a:endParaRPr lang="en-IN" dirty="0"/>
          </a:p>
        </p:txBody>
      </p:sp>
      <p:sp>
        <p:nvSpPr>
          <p:cNvPr id="6" name="Rectangle 5">
            <a:extLst>
              <a:ext uri="{FF2B5EF4-FFF2-40B4-BE49-F238E27FC236}">
                <a16:creationId xmlns:a16="http://schemas.microsoft.com/office/drawing/2014/main" id="{0AA431F0-EFA9-4FB0-8D71-76FBE47972B1}"/>
              </a:ext>
            </a:extLst>
          </p:cNvPr>
          <p:cNvSpPr/>
          <p:nvPr/>
        </p:nvSpPr>
        <p:spPr>
          <a:xfrm>
            <a:off x="2609666" y="2103711"/>
            <a:ext cx="6096000" cy="923330"/>
          </a:xfrm>
          <a:prstGeom prst="rect">
            <a:avLst/>
          </a:prstGeom>
        </p:spPr>
        <p:txBody>
          <a:bodyPr>
            <a:spAutoFit/>
          </a:bodyPr>
          <a:lstStyle/>
          <a:p>
            <a:r>
              <a:rPr lang="en-US" dirty="0">
                <a:solidFill>
                  <a:srgbClr val="555555"/>
                </a:solidFill>
                <a:latin typeface="Google Sans"/>
              </a:rPr>
              <a:t>It shows the relationship between a numeric and a categoric variable. Each entity of the categoric variable is represented as a bar. The size of the bar represents its numeric value</a:t>
            </a:r>
            <a:r>
              <a:rPr lang="en-US" dirty="0">
                <a:solidFill>
                  <a:srgbClr val="555555"/>
                </a:solidFill>
                <a:latin typeface="Montserrat"/>
              </a:rPr>
              <a:t>.</a:t>
            </a:r>
            <a:endParaRPr lang="en-IN" dirty="0"/>
          </a:p>
        </p:txBody>
      </p:sp>
      <p:pic>
        <p:nvPicPr>
          <p:cNvPr id="8" name="Picture 7">
            <a:extLst>
              <a:ext uri="{FF2B5EF4-FFF2-40B4-BE49-F238E27FC236}">
                <a16:creationId xmlns:a16="http://schemas.microsoft.com/office/drawing/2014/main" id="{1C08D8C1-0D59-408D-A7F9-2F20465550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84141" y="2923982"/>
            <a:ext cx="4430502" cy="3392431"/>
          </a:xfrm>
          <a:prstGeom prst="rect">
            <a:avLst/>
          </a:prstGeom>
        </p:spPr>
      </p:pic>
      <p:sp>
        <p:nvSpPr>
          <p:cNvPr id="9" name="Rectangle 8">
            <a:extLst>
              <a:ext uri="{FF2B5EF4-FFF2-40B4-BE49-F238E27FC236}">
                <a16:creationId xmlns:a16="http://schemas.microsoft.com/office/drawing/2014/main" id="{421792A0-0CB1-4EE6-8C0F-77C2BB2E45BE}"/>
              </a:ext>
            </a:extLst>
          </p:cNvPr>
          <p:cNvSpPr/>
          <p:nvPr/>
        </p:nvSpPr>
        <p:spPr>
          <a:xfrm>
            <a:off x="2681748" y="3225498"/>
            <a:ext cx="1130759" cy="461665"/>
          </a:xfrm>
          <a:prstGeom prst="rect">
            <a:avLst/>
          </a:prstGeom>
        </p:spPr>
        <p:txBody>
          <a:bodyPr wrap="none">
            <a:spAutoFit/>
          </a:bodyPr>
          <a:lstStyle/>
          <a:p>
            <a:r>
              <a:rPr lang="en-IN" sz="2400" b="1" dirty="0">
                <a:latin typeface="system-ui"/>
              </a:rPr>
              <a:t>Insight:</a:t>
            </a:r>
            <a:endParaRPr lang="en-IN" sz="2400" dirty="0"/>
          </a:p>
        </p:txBody>
      </p:sp>
      <p:sp>
        <p:nvSpPr>
          <p:cNvPr id="10" name="Rectangle 1">
            <a:extLst>
              <a:ext uri="{FF2B5EF4-FFF2-40B4-BE49-F238E27FC236}">
                <a16:creationId xmlns:a16="http://schemas.microsoft.com/office/drawing/2014/main" id="{033752F5-CFA8-4B10-B247-22D04054480F}"/>
              </a:ext>
            </a:extLst>
          </p:cNvPr>
          <p:cNvSpPr>
            <a:spLocks noChangeArrowheads="1"/>
          </p:cNvSpPr>
          <p:nvPr/>
        </p:nvSpPr>
        <p:spPr bwMode="auto">
          <a:xfrm>
            <a:off x="2218764" y="4011903"/>
            <a:ext cx="5365377" cy="18620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1415"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Google Sans"/>
              </a:rPr>
              <a:t>We can see here that when the holiday false, more users are registered.</a:t>
            </a: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endParaRPr kumimoji="0" lang="en-US" altLang="en-US"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Google Sans"/>
              </a:rPr>
              <a:t>2. We can see here that when the holiday is true then less times users are registered.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a:ln>
                <a:noFill/>
              </a:ln>
              <a:solidFill>
                <a:schemeClr val="tx1"/>
              </a:solidFill>
              <a:effectLst/>
              <a:latin typeface="var(--jp-content-font-family)"/>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77657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A6366D-B03A-400D-B22A-F6B6AB594BF4}"/>
              </a:ext>
            </a:extLst>
          </p:cNvPr>
          <p:cNvSpPr/>
          <p:nvPr/>
        </p:nvSpPr>
        <p:spPr>
          <a:xfrm>
            <a:off x="1955232" y="501134"/>
            <a:ext cx="2025097" cy="523220"/>
          </a:xfrm>
          <a:prstGeom prst="rect">
            <a:avLst/>
          </a:prstGeom>
        </p:spPr>
        <p:txBody>
          <a:bodyPr wrap="square">
            <a:spAutoFit/>
          </a:bodyPr>
          <a:lstStyle/>
          <a:p>
            <a:r>
              <a:rPr lang="en-IN" sz="2800" b="1" dirty="0">
                <a:latin typeface="Google Sans"/>
              </a:rPr>
              <a:t>Scatter Plot:</a:t>
            </a:r>
            <a:endParaRPr lang="en-IN" sz="2800" b="1" i="0" dirty="0">
              <a:effectLst/>
              <a:latin typeface="Google Sans"/>
            </a:endParaRPr>
          </a:p>
        </p:txBody>
      </p:sp>
      <p:sp>
        <p:nvSpPr>
          <p:cNvPr id="3" name="Rectangle 2">
            <a:extLst>
              <a:ext uri="{FF2B5EF4-FFF2-40B4-BE49-F238E27FC236}">
                <a16:creationId xmlns:a16="http://schemas.microsoft.com/office/drawing/2014/main" id="{128355CE-50B9-42C3-BD7D-62C384989DBD}"/>
              </a:ext>
            </a:extLst>
          </p:cNvPr>
          <p:cNvSpPr/>
          <p:nvPr/>
        </p:nvSpPr>
        <p:spPr>
          <a:xfrm>
            <a:off x="2097740" y="1024354"/>
            <a:ext cx="7812741" cy="923330"/>
          </a:xfrm>
          <a:prstGeom prst="rect">
            <a:avLst/>
          </a:prstGeom>
        </p:spPr>
        <p:txBody>
          <a:bodyPr wrap="square">
            <a:spAutoFit/>
          </a:bodyPr>
          <a:lstStyle/>
          <a:p>
            <a:r>
              <a:rPr lang="en-US" dirty="0">
                <a:solidFill>
                  <a:srgbClr val="001D35"/>
                </a:solidFill>
                <a:latin typeface="Google Sans"/>
              </a:rPr>
              <a:t>A scatter plot is </a:t>
            </a:r>
            <a:r>
              <a:rPr lang="en-US" dirty="0">
                <a:latin typeface="Google Sans"/>
              </a:rPr>
              <a:t>a graphical representation used to visualize the relationship between two variables by plotting data points as dots on a graph, where the position of each dot indicates the values of the two variables on the x and y axes</a:t>
            </a:r>
            <a:endParaRPr lang="en-IN" dirty="0">
              <a:latin typeface="Google Sans"/>
            </a:endParaRPr>
          </a:p>
        </p:txBody>
      </p:sp>
      <p:sp>
        <p:nvSpPr>
          <p:cNvPr id="4" name="Rectangle 3">
            <a:extLst>
              <a:ext uri="{FF2B5EF4-FFF2-40B4-BE49-F238E27FC236}">
                <a16:creationId xmlns:a16="http://schemas.microsoft.com/office/drawing/2014/main" id="{E0F5DC01-165B-43D7-8A41-172190713D45}"/>
              </a:ext>
            </a:extLst>
          </p:cNvPr>
          <p:cNvSpPr/>
          <p:nvPr/>
        </p:nvSpPr>
        <p:spPr>
          <a:xfrm>
            <a:off x="2097740" y="2101572"/>
            <a:ext cx="6096000" cy="369332"/>
          </a:xfrm>
          <a:prstGeom prst="rect">
            <a:avLst/>
          </a:prstGeom>
        </p:spPr>
        <p:txBody>
          <a:bodyPr>
            <a:spAutoFit/>
          </a:bodyPr>
          <a:lstStyle/>
          <a:p>
            <a:r>
              <a:rPr lang="en-US" dirty="0">
                <a:latin typeface="Google Sans"/>
              </a:rPr>
              <a:t>Basically we have used it for ‘hour vs Humidity' inside the data.</a:t>
            </a:r>
            <a:endParaRPr lang="en-IN" dirty="0">
              <a:latin typeface="Google Sans"/>
            </a:endParaRPr>
          </a:p>
        </p:txBody>
      </p:sp>
      <p:pic>
        <p:nvPicPr>
          <p:cNvPr id="6" name="Picture 5">
            <a:extLst>
              <a:ext uri="{FF2B5EF4-FFF2-40B4-BE49-F238E27FC236}">
                <a16:creationId xmlns:a16="http://schemas.microsoft.com/office/drawing/2014/main" id="{C4A94169-539A-4BD9-A6B8-4957EB5CED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2507" y="2470904"/>
            <a:ext cx="5072598" cy="4233680"/>
          </a:xfrm>
          <a:prstGeom prst="rect">
            <a:avLst/>
          </a:prstGeom>
        </p:spPr>
      </p:pic>
      <p:sp>
        <p:nvSpPr>
          <p:cNvPr id="7" name="Rectangle 6">
            <a:extLst>
              <a:ext uri="{FF2B5EF4-FFF2-40B4-BE49-F238E27FC236}">
                <a16:creationId xmlns:a16="http://schemas.microsoft.com/office/drawing/2014/main" id="{4865E682-935E-4C9B-AA64-523DF7BE7DB0}"/>
              </a:ext>
            </a:extLst>
          </p:cNvPr>
          <p:cNvSpPr/>
          <p:nvPr/>
        </p:nvSpPr>
        <p:spPr>
          <a:xfrm>
            <a:off x="2097740" y="2535536"/>
            <a:ext cx="1287404" cy="523220"/>
          </a:xfrm>
          <a:prstGeom prst="rect">
            <a:avLst/>
          </a:prstGeom>
        </p:spPr>
        <p:txBody>
          <a:bodyPr wrap="none">
            <a:spAutoFit/>
          </a:bodyPr>
          <a:lstStyle/>
          <a:p>
            <a:r>
              <a:rPr lang="en-US" sz="2800" b="1" dirty="0">
                <a:latin typeface="Google Sans"/>
              </a:rPr>
              <a:t>I</a:t>
            </a:r>
            <a:r>
              <a:rPr lang="en-IN" sz="2800" b="1" dirty="0" err="1">
                <a:latin typeface="Google Sans"/>
              </a:rPr>
              <a:t>nsight</a:t>
            </a:r>
            <a:r>
              <a:rPr lang="en-IN" sz="2800" b="1" dirty="0">
                <a:latin typeface="Google Sans"/>
              </a:rPr>
              <a:t>:</a:t>
            </a:r>
            <a:endParaRPr lang="en-IN" sz="2800" dirty="0"/>
          </a:p>
        </p:txBody>
      </p:sp>
      <p:sp>
        <p:nvSpPr>
          <p:cNvPr id="8" name="Rectangle 7">
            <a:extLst>
              <a:ext uri="{FF2B5EF4-FFF2-40B4-BE49-F238E27FC236}">
                <a16:creationId xmlns:a16="http://schemas.microsoft.com/office/drawing/2014/main" id="{7383E5AE-DAA2-47AB-BDD7-D7F6C606F7A1}"/>
              </a:ext>
            </a:extLst>
          </p:cNvPr>
          <p:cNvSpPr/>
          <p:nvPr/>
        </p:nvSpPr>
        <p:spPr>
          <a:xfrm>
            <a:off x="1955232" y="3228219"/>
            <a:ext cx="5137275" cy="1477328"/>
          </a:xfrm>
          <a:prstGeom prst="rect">
            <a:avLst/>
          </a:prstGeom>
        </p:spPr>
        <p:txBody>
          <a:bodyPr wrap="square">
            <a:spAutoFit/>
          </a:bodyPr>
          <a:lstStyle/>
          <a:p>
            <a:r>
              <a:rPr lang="en-US" dirty="0">
                <a:latin typeface="system-ui"/>
              </a:rPr>
              <a:t>The plot suggests that humidity is generally lower during the daytime and higher during nighttime. This pattern is typical as the temperature during the day can cause humidity to decrease, while cooler evening temperatures can increase humidity.</a:t>
            </a:r>
            <a:endParaRPr lang="en-IN" dirty="0"/>
          </a:p>
        </p:txBody>
      </p:sp>
      <p:sp>
        <p:nvSpPr>
          <p:cNvPr id="9" name="Rectangle 8">
            <a:extLst>
              <a:ext uri="{FF2B5EF4-FFF2-40B4-BE49-F238E27FC236}">
                <a16:creationId xmlns:a16="http://schemas.microsoft.com/office/drawing/2014/main" id="{C7CA1389-A0FF-4971-91CD-30311A08DD4D}"/>
              </a:ext>
            </a:extLst>
          </p:cNvPr>
          <p:cNvSpPr/>
          <p:nvPr/>
        </p:nvSpPr>
        <p:spPr>
          <a:xfrm>
            <a:off x="1955232" y="4783085"/>
            <a:ext cx="5279286" cy="646331"/>
          </a:xfrm>
          <a:prstGeom prst="rect">
            <a:avLst/>
          </a:prstGeom>
        </p:spPr>
        <p:txBody>
          <a:bodyPr wrap="square">
            <a:spAutoFit/>
          </a:bodyPr>
          <a:lstStyle/>
          <a:p>
            <a:r>
              <a:rPr lang="en-US" dirty="0">
                <a:latin typeface="system-ui"/>
              </a:rPr>
              <a:t>There's a noticeable dip in humidity around the middle of the day.</a:t>
            </a:r>
            <a:endParaRPr lang="en-IN" dirty="0"/>
          </a:p>
        </p:txBody>
      </p:sp>
      <p:sp>
        <p:nvSpPr>
          <p:cNvPr id="10" name="Rectangle 9">
            <a:extLst>
              <a:ext uri="{FF2B5EF4-FFF2-40B4-BE49-F238E27FC236}">
                <a16:creationId xmlns:a16="http://schemas.microsoft.com/office/drawing/2014/main" id="{6356668C-5F0B-405B-9F7B-F04136A0115F}"/>
              </a:ext>
            </a:extLst>
          </p:cNvPr>
          <p:cNvSpPr/>
          <p:nvPr/>
        </p:nvSpPr>
        <p:spPr>
          <a:xfrm>
            <a:off x="1955232" y="5616750"/>
            <a:ext cx="4943109" cy="646331"/>
          </a:xfrm>
          <a:prstGeom prst="rect">
            <a:avLst/>
          </a:prstGeom>
        </p:spPr>
        <p:txBody>
          <a:bodyPr wrap="square">
            <a:spAutoFit/>
          </a:bodyPr>
          <a:lstStyle/>
          <a:p>
            <a:r>
              <a:rPr lang="en-US" dirty="0">
                <a:latin typeface="system-ui"/>
              </a:rPr>
              <a:t>Humidity is relatively high during the early morning hours.</a:t>
            </a:r>
            <a:endParaRPr lang="en-IN" dirty="0"/>
          </a:p>
        </p:txBody>
      </p:sp>
    </p:spTree>
    <p:extLst>
      <p:ext uri="{BB962C8B-B14F-4D97-AF65-F5344CB8AC3E}">
        <p14:creationId xmlns:p14="http://schemas.microsoft.com/office/powerpoint/2010/main" val="1912985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FF1EA9-32F9-49C6-8BC1-B4905ADC526F}"/>
              </a:ext>
            </a:extLst>
          </p:cNvPr>
          <p:cNvSpPr/>
          <p:nvPr/>
        </p:nvSpPr>
        <p:spPr>
          <a:xfrm>
            <a:off x="1985035" y="729734"/>
            <a:ext cx="1375698" cy="461665"/>
          </a:xfrm>
          <a:prstGeom prst="rect">
            <a:avLst/>
          </a:prstGeom>
        </p:spPr>
        <p:txBody>
          <a:bodyPr wrap="none">
            <a:spAutoFit/>
          </a:bodyPr>
          <a:lstStyle/>
          <a:p>
            <a:r>
              <a:rPr lang="en-IN" sz="2400" b="1" dirty="0">
                <a:latin typeface="system-ui"/>
              </a:rPr>
              <a:t>Line Plot:</a:t>
            </a:r>
            <a:endParaRPr lang="en-IN" sz="2400" b="1" i="0" dirty="0">
              <a:effectLst/>
              <a:latin typeface="system-ui"/>
            </a:endParaRPr>
          </a:p>
        </p:txBody>
      </p:sp>
      <p:sp>
        <p:nvSpPr>
          <p:cNvPr id="3" name="Rectangle 2">
            <a:extLst>
              <a:ext uri="{FF2B5EF4-FFF2-40B4-BE49-F238E27FC236}">
                <a16:creationId xmlns:a16="http://schemas.microsoft.com/office/drawing/2014/main" id="{CA9C84D7-9B51-4D4F-A37D-9C750338A499}"/>
              </a:ext>
            </a:extLst>
          </p:cNvPr>
          <p:cNvSpPr/>
          <p:nvPr/>
        </p:nvSpPr>
        <p:spPr>
          <a:xfrm>
            <a:off x="1985035" y="1312422"/>
            <a:ext cx="6096000" cy="369332"/>
          </a:xfrm>
          <a:prstGeom prst="rect">
            <a:avLst/>
          </a:prstGeom>
        </p:spPr>
        <p:txBody>
          <a:bodyPr>
            <a:spAutoFit/>
          </a:bodyPr>
          <a:lstStyle/>
          <a:p>
            <a:r>
              <a:rPr lang="en-IN" dirty="0">
                <a:latin typeface="Google Sans"/>
              </a:rPr>
              <a:t>I have used line plot between windspeed and </a:t>
            </a:r>
            <a:r>
              <a:rPr lang="en-IN" dirty="0" err="1">
                <a:latin typeface="Google Sans"/>
              </a:rPr>
              <a:t>weathersite</a:t>
            </a:r>
            <a:r>
              <a:rPr lang="en-IN" dirty="0">
                <a:latin typeface="Google Sans"/>
              </a:rPr>
              <a:t>.</a:t>
            </a:r>
          </a:p>
        </p:txBody>
      </p:sp>
      <p:pic>
        <p:nvPicPr>
          <p:cNvPr id="5" name="Picture 4">
            <a:extLst>
              <a:ext uri="{FF2B5EF4-FFF2-40B4-BE49-F238E27FC236}">
                <a16:creationId xmlns:a16="http://schemas.microsoft.com/office/drawing/2014/main" id="{F281AB89-86ED-48C6-9E07-21C50CEB36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3871" y="1929912"/>
            <a:ext cx="5250722" cy="4928088"/>
          </a:xfrm>
          <a:prstGeom prst="rect">
            <a:avLst/>
          </a:prstGeom>
        </p:spPr>
      </p:pic>
      <p:sp>
        <p:nvSpPr>
          <p:cNvPr id="6" name="Rectangle 5">
            <a:extLst>
              <a:ext uri="{FF2B5EF4-FFF2-40B4-BE49-F238E27FC236}">
                <a16:creationId xmlns:a16="http://schemas.microsoft.com/office/drawing/2014/main" id="{FCAA7A02-3492-4616-A6B7-0CB0764878B8}"/>
              </a:ext>
            </a:extLst>
          </p:cNvPr>
          <p:cNvSpPr/>
          <p:nvPr/>
        </p:nvSpPr>
        <p:spPr>
          <a:xfrm>
            <a:off x="1985035" y="1929912"/>
            <a:ext cx="1109919" cy="461665"/>
          </a:xfrm>
          <a:prstGeom prst="rect">
            <a:avLst/>
          </a:prstGeom>
        </p:spPr>
        <p:txBody>
          <a:bodyPr wrap="none">
            <a:spAutoFit/>
          </a:bodyPr>
          <a:lstStyle/>
          <a:p>
            <a:r>
              <a:rPr lang="en-IN" sz="2400" b="1" dirty="0">
                <a:latin typeface="system-ui"/>
              </a:rPr>
              <a:t>Insight</a:t>
            </a:r>
            <a:r>
              <a:rPr lang="en-IN" b="1" dirty="0">
                <a:latin typeface="system-ui"/>
              </a:rPr>
              <a:t>:</a:t>
            </a:r>
          </a:p>
        </p:txBody>
      </p:sp>
      <p:sp>
        <p:nvSpPr>
          <p:cNvPr id="7" name="Rectangle 6">
            <a:extLst>
              <a:ext uri="{FF2B5EF4-FFF2-40B4-BE49-F238E27FC236}">
                <a16:creationId xmlns:a16="http://schemas.microsoft.com/office/drawing/2014/main" id="{68C23068-E10F-4CA6-87B2-B5042F01A89E}"/>
              </a:ext>
            </a:extLst>
          </p:cNvPr>
          <p:cNvSpPr/>
          <p:nvPr/>
        </p:nvSpPr>
        <p:spPr>
          <a:xfrm>
            <a:off x="1985035" y="2391577"/>
            <a:ext cx="4967094" cy="1477328"/>
          </a:xfrm>
          <a:prstGeom prst="rect">
            <a:avLst/>
          </a:prstGeom>
        </p:spPr>
        <p:txBody>
          <a:bodyPr wrap="square">
            <a:spAutoFit/>
          </a:bodyPr>
          <a:lstStyle/>
          <a:p>
            <a:r>
              <a:rPr lang="en-US" dirty="0">
                <a:latin typeface="system-ui"/>
              </a:rPr>
              <a:t>As the "</a:t>
            </a:r>
            <a:r>
              <a:rPr lang="en-US" dirty="0" err="1">
                <a:latin typeface="system-ui"/>
              </a:rPr>
              <a:t>weathersit</a:t>
            </a:r>
            <a:r>
              <a:rPr lang="en-US" dirty="0">
                <a:latin typeface="system-ui"/>
              </a:rPr>
              <a:t>" value increases from 0.0 to around 0.2, the windspeed shows a notable increase, peaking at around 1.7. This indicates that the windspeed is generally higher in the early stages of "</a:t>
            </a:r>
            <a:r>
              <a:rPr lang="en-US" dirty="0" err="1">
                <a:latin typeface="system-ui"/>
              </a:rPr>
              <a:t>weathersit</a:t>
            </a:r>
            <a:r>
              <a:rPr lang="en-US" dirty="0">
                <a:latin typeface="system-ui"/>
              </a:rPr>
              <a:t>."</a:t>
            </a:r>
            <a:endParaRPr lang="en-IN" dirty="0"/>
          </a:p>
        </p:txBody>
      </p:sp>
      <p:sp>
        <p:nvSpPr>
          <p:cNvPr id="8" name="Rectangle 7">
            <a:extLst>
              <a:ext uri="{FF2B5EF4-FFF2-40B4-BE49-F238E27FC236}">
                <a16:creationId xmlns:a16="http://schemas.microsoft.com/office/drawing/2014/main" id="{DD895E0C-8ED3-45CE-BF26-CFD2E28334F0}"/>
              </a:ext>
            </a:extLst>
          </p:cNvPr>
          <p:cNvSpPr/>
          <p:nvPr/>
        </p:nvSpPr>
        <p:spPr>
          <a:xfrm>
            <a:off x="1985035" y="3886124"/>
            <a:ext cx="4778836" cy="1754326"/>
          </a:xfrm>
          <a:prstGeom prst="rect">
            <a:avLst/>
          </a:prstGeom>
        </p:spPr>
        <p:txBody>
          <a:bodyPr wrap="square">
            <a:spAutoFit/>
          </a:bodyPr>
          <a:lstStyle/>
          <a:p>
            <a:r>
              <a:rPr lang="en-US" dirty="0">
                <a:latin typeface="system-ui"/>
              </a:rPr>
              <a:t>Overall, the graph suggests that there is a specific "</a:t>
            </a:r>
            <a:r>
              <a:rPr lang="en-US" dirty="0" err="1">
                <a:latin typeface="system-ui"/>
              </a:rPr>
              <a:t>weathersit</a:t>
            </a:r>
            <a:r>
              <a:rPr lang="en-US" dirty="0">
                <a:latin typeface="system-ui"/>
              </a:rPr>
              <a:t>" range (approximately 0.2) where the windspeed is at its highest. Beyond this range, the windspeed generally decreases, indicating that certain weather situations might lead to lower windspeed.</a:t>
            </a:r>
            <a:endParaRPr lang="en-IN" dirty="0"/>
          </a:p>
        </p:txBody>
      </p:sp>
    </p:spTree>
    <p:extLst>
      <p:ext uri="{BB962C8B-B14F-4D97-AF65-F5344CB8AC3E}">
        <p14:creationId xmlns:p14="http://schemas.microsoft.com/office/powerpoint/2010/main" val="2776809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037541-3769-47BB-8FEF-E14707DE86E0}"/>
              </a:ext>
            </a:extLst>
          </p:cNvPr>
          <p:cNvSpPr/>
          <p:nvPr/>
        </p:nvSpPr>
        <p:spPr>
          <a:xfrm>
            <a:off x="2189488" y="675946"/>
            <a:ext cx="1652888" cy="523220"/>
          </a:xfrm>
          <a:prstGeom prst="rect">
            <a:avLst/>
          </a:prstGeom>
        </p:spPr>
        <p:txBody>
          <a:bodyPr wrap="none">
            <a:spAutoFit/>
          </a:bodyPr>
          <a:lstStyle/>
          <a:p>
            <a:r>
              <a:rPr lang="en-IN" sz="2800" b="1" dirty="0">
                <a:latin typeface="system-ui"/>
              </a:rPr>
              <a:t>Heatmap:</a:t>
            </a:r>
            <a:endParaRPr lang="en-IN" sz="2800" b="1" i="0" dirty="0">
              <a:effectLst/>
              <a:latin typeface="system-ui"/>
            </a:endParaRPr>
          </a:p>
        </p:txBody>
      </p:sp>
      <p:sp>
        <p:nvSpPr>
          <p:cNvPr id="3" name="Rectangle 2">
            <a:extLst>
              <a:ext uri="{FF2B5EF4-FFF2-40B4-BE49-F238E27FC236}">
                <a16:creationId xmlns:a16="http://schemas.microsoft.com/office/drawing/2014/main" id="{B014EEFD-8FEA-47F5-A572-01BB40563833}"/>
              </a:ext>
            </a:extLst>
          </p:cNvPr>
          <p:cNvSpPr/>
          <p:nvPr/>
        </p:nvSpPr>
        <p:spPr>
          <a:xfrm>
            <a:off x="2189488" y="1199166"/>
            <a:ext cx="5687070" cy="400110"/>
          </a:xfrm>
          <a:prstGeom prst="rect">
            <a:avLst/>
          </a:prstGeom>
        </p:spPr>
        <p:txBody>
          <a:bodyPr wrap="none">
            <a:spAutoFit/>
          </a:bodyPr>
          <a:lstStyle/>
          <a:p>
            <a:r>
              <a:rPr lang="en-IN" sz="2000" dirty="0">
                <a:latin typeface="Google Sans"/>
              </a:rPr>
              <a:t>Here Heatmap has done his correlation to found out.</a:t>
            </a:r>
          </a:p>
        </p:txBody>
      </p:sp>
      <p:pic>
        <p:nvPicPr>
          <p:cNvPr id="5" name="Picture 4">
            <a:extLst>
              <a:ext uri="{FF2B5EF4-FFF2-40B4-BE49-F238E27FC236}">
                <a16:creationId xmlns:a16="http://schemas.microsoft.com/office/drawing/2014/main" id="{F131756E-1A07-4A8A-A574-491996BFB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4552" y="2003611"/>
            <a:ext cx="5347447" cy="4699141"/>
          </a:xfrm>
          <a:prstGeom prst="rect">
            <a:avLst/>
          </a:prstGeom>
        </p:spPr>
      </p:pic>
      <p:sp>
        <p:nvSpPr>
          <p:cNvPr id="6" name="Rectangle 5">
            <a:extLst>
              <a:ext uri="{FF2B5EF4-FFF2-40B4-BE49-F238E27FC236}">
                <a16:creationId xmlns:a16="http://schemas.microsoft.com/office/drawing/2014/main" id="{751D04B8-D5EE-4A17-AEAA-8758164139AC}"/>
              </a:ext>
            </a:extLst>
          </p:cNvPr>
          <p:cNvSpPr/>
          <p:nvPr/>
        </p:nvSpPr>
        <p:spPr>
          <a:xfrm>
            <a:off x="2189488" y="1628548"/>
            <a:ext cx="1287404" cy="523220"/>
          </a:xfrm>
          <a:prstGeom prst="rect">
            <a:avLst/>
          </a:prstGeom>
        </p:spPr>
        <p:txBody>
          <a:bodyPr wrap="none">
            <a:spAutoFit/>
          </a:bodyPr>
          <a:lstStyle/>
          <a:p>
            <a:r>
              <a:rPr lang="en-IN" sz="2800" b="1" dirty="0">
                <a:latin typeface="system-ui"/>
              </a:rPr>
              <a:t>Insight:</a:t>
            </a:r>
            <a:endParaRPr lang="en-IN" sz="2800" dirty="0"/>
          </a:p>
        </p:txBody>
      </p:sp>
      <p:sp>
        <p:nvSpPr>
          <p:cNvPr id="7" name="Rectangle 6">
            <a:extLst>
              <a:ext uri="{FF2B5EF4-FFF2-40B4-BE49-F238E27FC236}">
                <a16:creationId xmlns:a16="http://schemas.microsoft.com/office/drawing/2014/main" id="{564F406E-235B-4321-B095-63FA89D24A3A}"/>
              </a:ext>
            </a:extLst>
          </p:cNvPr>
          <p:cNvSpPr/>
          <p:nvPr/>
        </p:nvSpPr>
        <p:spPr>
          <a:xfrm>
            <a:off x="2189488" y="2181040"/>
            <a:ext cx="4399571" cy="1200329"/>
          </a:xfrm>
          <a:prstGeom prst="rect">
            <a:avLst/>
          </a:prstGeom>
        </p:spPr>
        <p:txBody>
          <a:bodyPr wrap="square">
            <a:spAutoFit/>
          </a:bodyPr>
          <a:lstStyle/>
          <a:p>
            <a:r>
              <a:rPr lang="en-US" dirty="0">
                <a:latin typeface="system-ui"/>
              </a:rPr>
              <a:t>temp and </a:t>
            </a:r>
            <a:r>
              <a:rPr lang="en-US" dirty="0" err="1">
                <a:latin typeface="system-ui"/>
              </a:rPr>
              <a:t>atemp</a:t>
            </a:r>
            <a:r>
              <a:rPr lang="en-US" dirty="0">
                <a:latin typeface="system-ui"/>
              </a:rPr>
              <a:t> have a very high positive correlation (0.91), indicating that as the actual temperature increases, the apparent temperature also increases.</a:t>
            </a:r>
            <a:endParaRPr lang="en-IN" dirty="0"/>
          </a:p>
        </p:txBody>
      </p:sp>
      <p:sp>
        <p:nvSpPr>
          <p:cNvPr id="8" name="Rectangle 7">
            <a:extLst>
              <a:ext uri="{FF2B5EF4-FFF2-40B4-BE49-F238E27FC236}">
                <a16:creationId xmlns:a16="http://schemas.microsoft.com/office/drawing/2014/main" id="{421F1EC7-EBD9-453A-9284-183EFBC5884F}"/>
              </a:ext>
            </a:extLst>
          </p:cNvPr>
          <p:cNvSpPr/>
          <p:nvPr/>
        </p:nvSpPr>
        <p:spPr>
          <a:xfrm>
            <a:off x="2189488" y="3429000"/>
            <a:ext cx="4399571" cy="1200329"/>
          </a:xfrm>
          <a:prstGeom prst="rect">
            <a:avLst/>
          </a:prstGeom>
        </p:spPr>
        <p:txBody>
          <a:bodyPr wrap="square">
            <a:spAutoFit/>
          </a:bodyPr>
          <a:lstStyle/>
          <a:p>
            <a:r>
              <a:rPr lang="en-US" dirty="0">
                <a:latin typeface="system-ui"/>
              </a:rPr>
              <a:t>registered and count have an almost perfect positive correlation (0.99), which makes sense as the total count is highly influenced by the number of registered users.</a:t>
            </a:r>
            <a:endParaRPr lang="en-IN" dirty="0"/>
          </a:p>
        </p:txBody>
      </p:sp>
      <p:sp>
        <p:nvSpPr>
          <p:cNvPr id="9" name="Rectangle 8">
            <a:extLst>
              <a:ext uri="{FF2B5EF4-FFF2-40B4-BE49-F238E27FC236}">
                <a16:creationId xmlns:a16="http://schemas.microsoft.com/office/drawing/2014/main" id="{CCA077F2-8DD2-402F-AE1B-8862B68410B1}"/>
              </a:ext>
            </a:extLst>
          </p:cNvPr>
          <p:cNvSpPr/>
          <p:nvPr/>
        </p:nvSpPr>
        <p:spPr>
          <a:xfrm>
            <a:off x="2189488" y="4560640"/>
            <a:ext cx="4197865" cy="923330"/>
          </a:xfrm>
          <a:prstGeom prst="rect">
            <a:avLst/>
          </a:prstGeom>
        </p:spPr>
        <p:txBody>
          <a:bodyPr wrap="square">
            <a:spAutoFit/>
          </a:bodyPr>
          <a:lstStyle/>
          <a:p>
            <a:r>
              <a:rPr lang="en-US" dirty="0">
                <a:latin typeface="system-ui"/>
              </a:rPr>
              <a:t>temp and casual (0.47), meaning that higher temperatures tend to attract more casual users.</a:t>
            </a:r>
            <a:endParaRPr lang="en-IN" dirty="0"/>
          </a:p>
        </p:txBody>
      </p:sp>
    </p:spTree>
    <p:extLst>
      <p:ext uri="{BB962C8B-B14F-4D97-AF65-F5344CB8AC3E}">
        <p14:creationId xmlns:p14="http://schemas.microsoft.com/office/powerpoint/2010/main" val="3435726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7F0C40-0E72-4205-B0EA-5564A39ABC13}"/>
              </a:ext>
            </a:extLst>
          </p:cNvPr>
          <p:cNvSpPr/>
          <p:nvPr/>
        </p:nvSpPr>
        <p:spPr>
          <a:xfrm>
            <a:off x="5075528" y="201706"/>
            <a:ext cx="2040943" cy="584775"/>
          </a:xfrm>
          <a:prstGeom prst="rect">
            <a:avLst/>
          </a:prstGeom>
        </p:spPr>
        <p:txBody>
          <a:bodyPr wrap="none">
            <a:spAutoFit/>
          </a:bodyPr>
          <a:lstStyle/>
          <a:p>
            <a:r>
              <a:rPr lang="en-IN" sz="3200" b="1" dirty="0">
                <a:latin typeface="Google Sans"/>
              </a:rPr>
              <a:t>Conclusion</a:t>
            </a:r>
          </a:p>
        </p:txBody>
      </p:sp>
      <p:sp>
        <p:nvSpPr>
          <p:cNvPr id="4" name="Rectangle 1">
            <a:extLst>
              <a:ext uri="{FF2B5EF4-FFF2-40B4-BE49-F238E27FC236}">
                <a16:creationId xmlns:a16="http://schemas.microsoft.com/office/drawing/2014/main" id="{8847A30D-CAAE-4FFB-B42C-C06A5E01DB03}"/>
              </a:ext>
            </a:extLst>
          </p:cNvPr>
          <p:cNvSpPr>
            <a:spLocks noChangeArrowheads="1"/>
          </p:cNvSpPr>
          <p:nvPr/>
        </p:nvSpPr>
        <p:spPr bwMode="auto">
          <a:xfrm>
            <a:off x="1721221" y="627784"/>
            <a:ext cx="8485097"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Summary of Key Points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Harmonization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Ensures consistency and accuracy in datasets by aligning and combining data from different sources.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It's the backbone of reliable data analysis and decision-making.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Insights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Extracting meaningful and actionable information from data is crucial for informed decision-making.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Techniques like descriptive, diagnostic, predictive, and prescriptive analytics can provide valuable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Visualization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Converts complex data into visual formats that enhance understanding and communication.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Effective visualization tools and techniques help in identifying trends, patterns, and outliers quickly.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Final Thoughts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Effective data harmonization, insights, and visualization can significantly improve business performance and decision-making.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Investing in the right tools and techniques is essential for leveraging the full potential of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As the field evolves, staying updated with the latest trends and technologies will be key to maintaining a competitive edge.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4965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16F8EA-AD90-44C7-85E7-D8990C30DA20}"/>
              </a:ext>
            </a:extLst>
          </p:cNvPr>
          <p:cNvSpPr/>
          <p:nvPr/>
        </p:nvSpPr>
        <p:spPr>
          <a:xfrm>
            <a:off x="2214282" y="843676"/>
            <a:ext cx="9269505" cy="3477875"/>
          </a:xfrm>
          <a:prstGeom prst="rect">
            <a:avLst/>
          </a:prstGeom>
        </p:spPr>
        <p:txBody>
          <a:bodyPr wrap="square">
            <a:spAutoFit/>
          </a:bodyPr>
          <a:lstStyle/>
          <a:p>
            <a:r>
              <a:rPr lang="en-US" sz="2000" b="1" dirty="0">
                <a:latin typeface="Google Sans"/>
              </a:rPr>
              <a:t>Websites and Online Resources:</a:t>
            </a:r>
          </a:p>
          <a:p>
            <a:endParaRPr lang="en-US" sz="2000" b="1" dirty="0">
              <a:latin typeface="Google Sans"/>
            </a:endParaRPr>
          </a:p>
          <a:p>
            <a:pPr>
              <a:buFont typeface="Arial" panose="020B0604020202020204" pitchFamily="34" charset="0"/>
              <a:buChar char="•"/>
            </a:pPr>
            <a:r>
              <a:rPr lang="en-US" sz="2000" b="1" dirty="0" err="1">
                <a:latin typeface="Google Sans"/>
              </a:rPr>
              <a:t>KDnuggets</a:t>
            </a:r>
            <a:r>
              <a:rPr lang="en-US" sz="2000" b="1" dirty="0">
                <a:latin typeface="Google Sans"/>
              </a:rPr>
              <a:t> (www.kdnuggets.com)</a:t>
            </a:r>
            <a:r>
              <a:rPr lang="en-US" sz="2000" dirty="0">
                <a:latin typeface="Google Sans"/>
              </a:rPr>
              <a:t>: </a:t>
            </a:r>
          </a:p>
          <a:p>
            <a:r>
              <a:rPr lang="en-US" sz="2000" dirty="0">
                <a:latin typeface="Google Sans"/>
              </a:rPr>
              <a:t>A website that provides articles, tutorials, and</a:t>
            </a:r>
            <a:r>
              <a:rPr lang="en-US" dirty="0"/>
              <a:t> </a:t>
            </a:r>
            <a:r>
              <a:rPr lang="en-US" dirty="0">
                <a:latin typeface="Google Sans"/>
              </a:rPr>
              <a:t>resources </a:t>
            </a:r>
            <a:r>
              <a:rPr lang="en-US" sz="2000" dirty="0">
                <a:latin typeface="Google Sans"/>
              </a:rPr>
              <a:t>on data science and analytics.</a:t>
            </a:r>
          </a:p>
          <a:p>
            <a:pPr>
              <a:buFont typeface="Arial" panose="020B0604020202020204" pitchFamily="34" charset="0"/>
              <a:buChar char="•"/>
            </a:pPr>
            <a:endParaRPr lang="en-US" sz="2000" dirty="0">
              <a:latin typeface="Google Sans"/>
            </a:endParaRPr>
          </a:p>
          <a:p>
            <a:pPr>
              <a:buFont typeface="Arial" panose="020B0604020202020204" pitchFamily="34" charset="0"/>
              <a:buChar char="•"/>
            </a:pPr>
            <a:r>
              <a:rPr lang="en-US" sz="2000" b="1" dirty="0">
                <a:latin typeface="Google Sans"/>
              </a:rPr>
              <a:t>Towards Data Science (towardsdatascience.com)</a:t>
            </a:r>
            <a:r>
              <a:rPr lang="en-US" sz="2000" dirty="0">
                <a:latin typeface="Google Sans"/>
              </a:rPr>
              <a:t>:</a:t>
            </a:r>
          </a:p>
          <a:p>
            <a:r>
              <a:rPr lang="en-US" sz="2000" dirty="0">
                <a:latin typeface="Google Sans"/>
              </a:rPr>
              <a:t> A platform with a variety of articles on data analysis, machine learning, and visualization.</a:t>
            </a:r>
          </a:p>
          <a:p>
            <a:pPr>
              <a:buFont typeface="Arial" panose="020B0604020202020204" pitchFamily="34" charset="0"/>
              <a:buChar char="•"/>
            </a:pPr>
            <a:endParaRPr lang="en-US" sz="2000" dirty="0">
              <a:latin typeface="Google Sans"/>
            </a:endParaRPr>
          </a:p>
          <a:p>
            <a:pPr>
              <a:buFont typeface="Arial" panose="020B0604020202020204" pitchFamily="34" charset="0"/>
              <a:buChar char="•"/>
            </a:pPr>
            <a:r>
              <a:rPr lang="en-US" sz="2000" b="1" dirty="0">
                <a:latin typeface="Google Sans"/>
              </a:rPr>
              <a:t>Tableau Blog (www.tableau.com/blog)</a:t>
            </a:r>
            <a:r>
              <a:rPr lang="en-US" sz="2000" dirty="0">
                <a:latin typeface="Google Sans"/>
              </a:rPr>
              <a:t>: </a:t>
            </a:r>
          </a:p>
          <a:p>
            <a:r>
              <a:rPr lang="en-US" sz="2000" dirty="0">
                <a:latin typeface="Google Sans"/>
              </a:rPr>
              <a:t>Offers insights and case studies on data visualization.</a:t>
            </a:r>
          </a:p>
        </p:txBody>
      </p:sp>
      <p:sp>
        <p:nvSpPr>
          <p:cNvPr id="3" name="Rectangle 2">
            <a:extLst>
              <a:ext uri="{FF2B5EF4-FFF2-40B4-BE49-F238E27FC236}">
                <a16:creationId xmlns:a16="http://schemas.microsoft.com/office/drawing/2014/main" id="{631463D6-5F00-454B-8519-9D1B6D9586BB}"/>
              </a:ext>
            </a:extLst>
          </p:cNvPr>
          <p:cNvSpPr/>
          <p:nvPr/>
        </p:nvSpPr>
        <p:spPr>
          <a:xfrm>
            <a:off x="5372084" y="124616"/>
            <a:ext cx="2052100" cy="584775"/>
          </a:xfrm>
          <a:prstGeom prst="rect">
            <a:avLst/>
          </a:prstGeom>
        </p:spPr>
        <p:txBody>
          <a:bodyPr wrap="none">
            <a:spAutoFit/>
          </a:bodyPr>
          <a:lstStyle/>
          <a:p>
            <a:r>
              <a:rPr lang="en-IN" sz="3200" b="1" dirty="0">
                <a:latin typeface="Google Sans"/>
              </a:rPr>
              <a:t>References</a:t>
            </a:r>
          </a:p>
        </p:txBody>
      </p:sp>
    </p:spTree>
    <p:extLst>
      <p:ext uri="{BB962C8B-B14F-4D97-AF65-F5344CB8AC3E}">
        <p14:creationId xmlns:p14="http://schemas.microsoft.com/office/powerpoint/2010/main" val="2700675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r: 5 Points 1">
            <a:extLst>
              <a:ext uri="{FF2B5EF4-FFF2-40B4-BE49-F238E27FC236}">
                <a16:creationId xmlns:a16="http://schemas.microsoft.com/office/drawing/2014/main" id="{7C016377-3ABB-4B25-A366-B01620B51E75}"/>
              </a:ext>
            </a:extLst>
          </p:cNvPr>
          <p:cNvSpPr/>
          <p:nvPr/>
        </p:nvSpPr>
        <p:spPr>
          <a:xfrm>
            <a:off x="578224" y="121024"/>
            <a:ext cx="10367682" cy="6642847"/>
          </a:xfrm>
          <a:prstGeom prst="star5">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9600" dirty="0">
                <a:latin typeface="Google Sans"/>
              </a:rPr>
              <a:t>Thank you</a:t>
            </a:r>
            <a:endParaRPr lang="en-IN" sz="9600" dirty="0">
              <a:latin typeface="Google Sans"/>
            </a:endParaRPr>
          </a:p>
        </p:txBody>
      </p:sp>
    </p:spTree>
    <p:extLst>
      <p:ext uri="{BB962C8B-B14F-4D97-AF65-F5344CB8AC3E}">
        <p14:creationId xmlns:p14="http://schemas.microsoft.com/office/powerpoint/2010/main" val="67990941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790</TotalTime>
  <Words>1223</Words>
  <Application>Microsoft Office PowerPoint</Application>
  <PresentationFormat>Widescreen</PresentationFormat>
  <Paragraphs>155</Paragraphs>
  <Slides>15</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15</vt:i4>
      </vt:variant>
    </vt:vector>
  </HeadingPairs>
  <TitlesOfParts>
    <vt:vector size="30" baseType="lpstr">
      <vt:lpstr>__fkGroteskNeue_598ab8</vt:lpstr>
      <vt:lpstr>Arial</vt:lpstr>
      <vt:lpstr>Arial Black</vt:lpstr>
      <vt:lpstr>Arial Rounded MT Bold</vt:lpstr>
      <vt:lpstr>Century Gothic</vt:lpstr>
      <vt:lpstr>Google Sans</vt:lpstr>
      <vt:lpstr>Graphik</vt:lpstr>
      <vt:lpstr>inherit</vt:lpstr>
      <vt:lpstr>Montserrat</vt:lpstr>
      <vt:lpstr>system-ui</vt:lpstr>
      <vt:lpstr>var(--font-berkeley-mono)</vt:lpstr>
      <vt:lpstr>var(--font-fk-grotesk)</vt:lpstr>
      <vt:lpstr>var(--jp-content-font-family)</vt:lpstr>
      <vt:lpstr>Wingdings 3</vt:lpstr>
      <vt:lpstr>Wisp</vt:lpstr>
      <vt:lpstr>N e x t H I k e s I T S o l u t I o 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 e x t H I k e s I T S o l u t I o n</dc:title>
  <dc:creator>Dell</dc:creator>
  <cp:lastModifiedBy>Dell</cp:lastModifiedBy>
  <cp:revision>32</cp:revision>
  <dcterms:created xsi:type="dcterms:W3CDTF">2025-01-12T08:45:47Z</dcterms:created>
  <dcterms:modified xsi:type="dcterms:W3CDTF">2025-01-13T09:17:11Z</dcterms:modified>
</cp:coreProperties>
</file>